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33" d="100"/>
          <a:sy n="33" d="100"/>
        </p:scale>
        <p:origin x="1954" y="68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18" Type="http://schemas.openxmlformats.org/officeDocument/2006/relationships/image" Target="../media/image40.png"/><Relationship Id="rId26" Type="http://schemas.openxmlformats.org/officeDocument/2006/relationships/image" Target="../media/image48.jpg"/><Relationship Id="rId3" Type="http://schemas.openxmlformats.org/officeDocument/2006/relationships/image" Target="../media/image25.png"/><Relationship Id="rId21" Type="http://schemas.openxmlformats.org/officeDocument/2006/relationships/image" Target="../media/image43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25" Type="http://schemas.openxmlformats.org/officeDocument/2006/relationships/image" Target="../media/image47.png"/><Relationship Id="rId2" Type="http://schemas.openxmlformats.org/officeDocument/2006/relationships/image" Target="../media/image24.png"/><Relationship Id="rId16" Type="http://schemas.openxmlformats.org/officeDocument/2006/relationships/image" Target="../media/image38.png"/><Relationship Id="rId20" Type="http://schemas.openxmlformats.org/officeDocument/2006/relationships/image" Target="../media/image4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24" Type="http://schemas.openxmlformats.org/officeDocument/2006/relationships/image" Target="../media/image46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23" Type="http://schemas.openxmlformats.org/officeDocument/2006/relationships/image" Target="../media/image45.png"/><Relationship Id="rId10" Type="http://schemas.openxmlformats.org/officeDocument/2006/relationships/image" Target="../media/image32.png"/><Relationship Id="rId19" Type="http://schemas.openxmlformats.org/officeDocument/2006/relationships/image" Target="../media/image41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Relationship Id="rId22" Type="http://schemas.openxmlformats.org/officeDocument/2006/relationships/image" Target="../media/image4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8E8E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96" y="0"/>
            <a:ext cx="2400299" cy="294736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15" y="0"/>
            <a:ext cx="2349499" cy="300987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65" y="0"/>
            <a:ext cx="2298699" cy="3061123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20" y="0"/>
            <a:ext cx="2247899" cy="3121204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139" y="0"/>
            <a:ext cx="2197099" cy="3173804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099" y="0"/>
            <a:ext cx="2146299" cy="3228723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43" y="0"/>
            <a:ext cx="2095499" cy="3275841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0"/>
            <a:ext cx="2045488" cy="3327672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034" y="0"/>
            <a:ext cx="1981199" cy="3376958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819" y="0"/>
            <a:ext cx="1930399" cy="3432984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593" y="0"/>
            <a:ext cx="1866899" cy="3482927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762" y="0"/>
            <a:ext cx="1816099" cy="3533412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2036" y="0"/>
            <a:ext cx="2044699" cy="3256683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1864" y="0"/>
            <a:ext cx="2273299" cy="2984751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9178" y="0"/>
            <a:ext cx="2527299" cy="2732825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9554" y="0"/>
            <a:ext cx="2768599" cy="2466557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0309" y="0"/>
            <a:ext cx="3022599" cy="2207224"/>
          </a:xfrm>
          <a:prstGeom prst="rect">
            <a:avLst/>
          </a:prstGeom>
        </p:spPr>
      </p:pic>
      <p:pic>
        <p:nvPicPr>
          <p:cNvPr id="34" name="bg object 34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9953" y="0"/>
            <a:ext cx="3289299" cy="1955456"/>
          </a:xfrm>
          <a:prstGeom prst="rect">
            <a:avLst/>
          </a:prstGeom>
        </p:spPr>
      </p:pic>
      <p:pic>
        <p:nvPicPr>
          <p:cNvPr id="35" name="bg object 35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609" y="0"/>
            <a:ext cx="3555999" cy="1700477"/>
          </a:xfrm>
          <a:prstGeom prst="rect">
            <a:avLst/>
          </a:prstGeom>
        </p:spPr>
      </p:pic>
      <p:pic>
        <p:nvPicPr>
          <p:cNvPr id="36" name="bg object 36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8394" y="0"/>
            <a:ext cx="3822699" cy="1447295"/>
          </a:xfrm>
          <a:prstGeom prst="rect">
            <a:avLst/>
          </a:prstGeom>
        </p:spPr>
      </p:pic>
      <p:pic>
        <p:nvPicPr>
          <p:cNvPr id="37" name="bg object 37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5166" y="0"/>
            <a:ext cx="4102099" cy="1195252"/>
          </a:xfrm>
          <a:prstGeom prst="rect">
            <a:avLst/>
          </a:prstGeom>
        </p:spPr>
      </p:pic>
      <p:pic>
        <p:nvPicPr>
          <p:cNvPr id="38" name="bg object 38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2939" y="0"/>
            <a:ext cx="4381499" cy="993088"/>
          </a:xfrm>
          <a:prstGeom prst="rect">
            <a:avLst/>
          </a:prstGeom>
        </p:spPr>
      </p:pic>
      <p:pic>
        <p:nvPicPr>
          <p:cNvPr id="39" name="bg object 39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0" y="0"/>
            <a:ext cx="4661539" cy="892269"/>
          </a:xfrm>
          <a:prstGeom prst="rect">
            <a:avLst/>
          </a:prstGeom>
        </p:spPr>
      </p:pic>
      <p:pic>
        <p:nvPicPr>
          <p:cNvPr id="40" name="bg object 40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-2042" y="6526097"/>
            <a:ext cx="3910147" cy="3760902"/>
          </a:xfrm>
          <a:prstGeom prst="rect">
            <a:avLst/>
          </a:prstGeom>
        </p:spPr>
      </p:pic>
      <p:sp>
        <p:nvSpPr>
          <p:cNvPr id="41" name="bg object 41"/>
          <p:cNvSpPr/>
          <p:nvPr/>
        </p:nvSpPr>
        <p:spPr>
          <a:xfrm>
            <a:off x="4541415" y="9464179"/>
            <a:ext cx="11673205" cy="0"/>
          </a:xfrm>
          <a:custGeom>
            <a:avLst/>
            <a:gdLst/>
            <a:ahLst/>
            <a:cxnLst/>
            <a:rect l="l" t="t" r="r" b="b"/>
            <a:pathLst>
              <a:path w="11673205">
                <a:moveTo>
                  <a:pt x="0" y="0"/>
                </a:moveTo>
                <a:lnTo>
                  <a:pt x="11672840" y="0"/>
                </a:lnTo>
              </a:path>
            </a:pathLst>
          </a:custGeom>
          <a:ln w="9524">
            <a:solidFill>
              <a:srgbClr val="53535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2" name="bg object 42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8602915" y="3467832"/>
            <a:ext cx="8115299" cy="54101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586710" y="1763622"/>
            <a:ext cx="4834255" cy="12719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150" b="1" i="0">
                <a:solidFill>
                  <a:srgbClr val="3F3C3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1" i="0">
                <a:solidFill>
                  <a:srgbClr val="3F3C3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381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150" b="1" i="0">
                <a:solidFill>
                  <a:srgbClr val="3F3C3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500" b="1" i="0">
                <a:solidFill>
                  <a:srgbClr val="3F3C3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381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8E8E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661539" cy="353341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150" b="1" i="0">
                <a:solidFill>
                  <a:srgbClr val="3F3C3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381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150" b="1" i="0">
                <a:solidFill>
                  <a:srgbClr val="3F3C3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381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8E8E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1806366"/>
            <a:ext cx="2943224" cy="370081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85726" y="1806366"/>
            <a:ext cx="3181350" cy="3700815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33075" y="1806366"/>
            <a:ext cx="3178669" cy="3700815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278570" y="1806366"/>
            <a:ext cx="2981324" cy="370081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381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png"/><Relationship Id="rId18" Type="http://schemas.openxmlformats.org/officeDocument/2006/relationships/image" Target="../media/image12.png"/><Relationship Id="rId26" Type="http://schemas.openxmlformats.org/officeDocument/2006/relationships/image" Target="../media/image20.png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5.png"/><Relationship Id="rId7" Type="http://schemas.openxmlformats.org/officeDocument/2006/relationships/image" Target="../media/image1.png"/><Relationship Id="rId12" Type="http://schemas.openxmlformats.org/officeDocument/2006/relationships/image" Target="../media/image6.png"/><Relationship Id="rId17" Type="http://schemas.openxmlformats.org/officeDocument/2006/relationships/image" Target="../media/image11.png"/><Relationship Id="rId25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.png"/><Relationship Id="rId20" Type="http://schemas.openxmlformats.org/officeDocument/2006/relationships/image" Target="../media/image14.png"/><Relationship Id="rId29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24" Type="http://schemas.openxmlformats.org/officeDocument/2006/relationships/image" Target="../media/image18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9.png"/><Relationship Id="rId23" Type="http://schemas.openxmlformats.org/officeDocument/2006/relationships/image" Target="../media/image17.png"/><Relationship Id="rId28" Type="http://schemas.openxmlformats.org/officeDocument/2006/relationships/image" Target="../media/image22.png"/><Relationship Id="rId10" Type="http://schemas.openxmlformats.org/officeDocument/2006/relationships/image" Target="../media/image4.png"/><Relationship Id="rId19" Type="http://schemas.openxmlformats.org/officeDocument/2006/relationships/image" Target="../media/image1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Relationship Id="rId14" Type="http://schemas.openxmlformats.org/officeDocument/2006/relationships/image" Target="../media/image8.png"/><Relationship Id="rId22" Type="http://schemas.openxmlformats.org/officeDocument/2006/relationships/image" Target="../media/image16.png"/><Relationship Id="rId27" Type="http://schemas.openxmlformats.org/officeDocument/2006/relationships/image" Target="../media/image2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8E8E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296" y="0"/>
            <a:ext cx="2400299" cy="294736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915" y="0"/>
            <a:ext cx="2349499" cy="300987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765" y="0"/>
            <a:ext cx="2298699" cy="3061123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720" y="0"/>
            <a:ext cx="2247899" cy="3121204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139" y="0"/>
            <a:ext cx="2197099" cy="3173804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099" y="0"/>
            <a:ext cx="2146299" cy="3228723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543" y="0"/>
            <a:ext cx="2095499" cy="3275841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0" y="0"/>
            <a:ext cx="2045488" cy="3327672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034" y="0"/>
            <a:ext cx="1981199" cy="3376958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819" y="0"/>
            <a:ext cx="1930399" cy="3432984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593" y="0"/>
            <a:ext cx="1866899" cy="3482927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762" y="0"/>
            <a:ext cx="1816099" cy="3533412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2036" y="0"/>
            <a:ext cx="2044699" cy="3256683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1864" y="0"/>
            <a:ext cx="2273299" cy="2984751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9178" y="0"/>
            <a:ext cx="2527299" cy="2732825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9554" y="0"/>
            <a:ext cx="2768599" cy="2466557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0309" y="0"/>
            <a:ext cx="3022599" cy="2207224"/>
          </a:xfrm>
          <a:prstGeom prst="rect">
            <a:avLst/>
          </a:prstGeom>
        </p:spPr>
      </p:pic>
      <p:pic>
        <p:nvPicPr>
          <p:cNvPr id="34" name="bg object 34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9953" y="0"/>
            <a:ext cx="3289299" cy="1955456"/>
          </a:xfrm>
          <a:prstGeom prst="rect">
            <a:avLst/>
          </a:prstGeom>
        </p:spPr>
      </p:pic>
      <p:pic>
        <p:nvPicPr>
          <p:cNvPr id="35" name="bg object 35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3609" y="0"/>
            <a:ext cx="3555999" cy="1700477"/>
          </a:xfrm>
          <a:prstGeom prst="rect">
            <a:avLst/>
          </a:prstGeom>
        </p:spPr>
      </p:pic>
      <p:pic>
        <p:nvPicPr>
          <p:cNvPr id="36" name="bg object 36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8394" y="0"/>
            <a:ext cx="3822699" cy="1447295"/>
          </a:xfrm>
          <a:prstGeom prst="rect">
            <a:avLst/>
          </a:prstGeom>
        </p:spPr>
      </p:pic>
      <p:pic>
        <p:nvPicPr>
          <p:cNvPr id="37" name="bg object 37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5166" y="0"/>
            <a:ext cx="4102099" cy="1195252"/>
          </a:xfrm>
          <a:prstGeom prst="rect">
            <a:avLst/>
          </a:prstGeom>
        </p:spPr>
      </p:pic>
      <p:pic>
        <p:nvPicPr>
          <p:cNvPr id="38" name="bg object 38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2939" y="0"/>
            <a:ext cx="4381499" cy="993088"/>
          </a:xfrm>
          <a:prstGeom prst="rect">
            <a:avLst/>
          </a:prstGeom>
        </p:spPr>
      </p:pic>
      <p:pic>
        <p:nvPicPr>
          <p:cNvPr id="39" name="bg object 39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0" y="0"/>
            <a:ext cx="4661539" cy="89226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32687" y="339153"/>
            <a:ext cx="8879840" cy="17132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150" b="1" i="0">
                <a:solidFill>
                  <a:srgbClr val="3F3C3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82691" y="1971662"/>
            <a:ext cx="17318355" cy="6216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1" i="0">
                <a:solidFill>
                  <a:srgbClr val="3F3C3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7221200" y="9215479"/>
            <a:ext cx="385444" cy="371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381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8E8E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661539" cy="353341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02312" y="6882983"/>
            <a:ext cx="4585687" cy="3404016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6597918"/>
            <a:ext cx="4175760" cy="3689350"/>
            <a:chOff x="0" y="6597918"/>
            <a:chExt cx="4175760" cy="3689350"/>
          </a:xfrm>
        </p:grpSpPr>
        <p:sp>
          <p:nvSpPr>
            <p:cNvPr id="6" name="object 6"/>
            <p:cNvSpPr/>
            <p:nvPr/>
          </p:nvSpPr>
          <p:spPr>
            <a:xfrm>
              <a:off x="0" y="6597918"/>
              <a:ext cx="4175760" cy="3689350"/>
            </a:xfrm>
            <a:custGeom>
              <a:avLst/>
              <a:gdLst/>
              <a:ahLst/>
              <a:cxnLst/>
              <a:rect l="l" t="t" r="r" b="b"/>
              <a:pathLst>
                <a:path w="4175760" h="3689350">
                  <a:moveTo>
                    <a:pt x="4175440" y="3689081"/>
                  </a:moveTo>
                  <a:lnTo>
                    <a:pt x="0" y="0"/>
                  </a:lnTo>
                  <a:lnTo>
                    <a:pt x="0" y="3689081"/>
                  </a:lnTo>
                  <a:lnTo>
                    <a:pt x="4175440" y="3689081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6727806"/>
              <a:ext cx="3559810" cy="3559810"/>
            </a:xfrm>
            <a:custGeom>
              <a:avLst/>
              <a:gdLst/>
              <a:ahLst/>
              <a:cxnLst/>
              <a:rect l="l" t="t" r="r" b="b"/>
              <a:pathLst>
                <a:path w="3559810" h="3559809">
                  <a:moveTo>
                    <a:pt x="0" y="3559193"/>
                  </a:moveTo>
                  <a:lnTo>
                    <a:pt x="3559193" y="3559193"/>
                  </a:lnTo>
                  <a:lnTo>
                    <a:pt x="0" y="0"/>
                  </a:lnTo>
                  <a:lnTo>
                    <a:pt x="0" y="3559193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5488054" y="0"/>
            <a:ext cx="2800350" cy="2526030"/>
            <a:chOff x="15488054" y="0"/>
            <a:chExt cx="2800350" cy="2526030"/>
          </a:xfrm>
        </p:grpSpPr>
        <p:sp>
          <p:nvSpPr>
            <p:cNvPr id="9" name="object 9"/>
            <p:cNvSpPr/>
            <p:nvPr/>
          </p:nvSpPr>
          <p:spPr>
            <a:xfrm>
              <a:off x="15488054" y="0"/>
              <a:ext cx="2800350" cy="2526030"/>
            </a:xfrm>
            <a:custGeom>
              <a:avLst/>
              <a:gdLst/>
              <a:ahLst/>
              <a:cxnLst/>
              <a:rect l="l" t="t" r="r" b="b"/>
              <a:pathLst>
                <a:path w="2800350" h="2526030">
                  <a:moveTo>
                    <a:pt x="0" y="0"/>
                  </a:moveTo>
                  <a:lnTo>
                    <a:pt x="2799944" y="2525886"/>
                  </a:lnTo>
                  <a:lnTo>
                    <a:pt x="279994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844815" y="0"/>
              <a:ext cx="2443480" cy="2443480"/>
            </a:xfrm>
            <a:custGeom>
              <a:avLst/>
              <a:gdLst/>
              <a:ahLst/>
              <a:cxnLst/>
              <a:rect l="l" t="t" r="r" b="b"/>
              <a:pathLst>
                <a:path w="2443480" h="2443480">
                  <a:moveTo>
                    <a:pt x="2443184" y="0"/>
                  </a:moveTo>
                  <a:lnTo>
                    <a:pt x="0" y="0"/>
                  </a:lnTo>
                  <a:lnTo>
                    <a:pt x="2443184" y="2443184"/>
                  </a:lnTo>
                  <a:lnTo>
                    <a:pt x="244318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4318481" y="2625306"/>
            <a:ext cx="9651365" cy="410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25800" marR="5080" indent="-3213735">
              <a:lnSpc>
                <a:spcPct val="116300"/>
              </a:lnSpc>
              <a:spcBef>
                <a:spcPts val="100"/>
              </a:spcBef>
            </a:pPr>
            <a:r>
              <a:rPr sz="11500" spc="85" dirty="0"/>
              <a:t>RF</a:t>
            </a:r>
            <a:r>
              <a:rPr sz="11500" spc="-260" dirty="0"/>
              <a:t> </a:t>
            </a:r>
            <a:r>
              <a:rPr sz="11500" spc="110" dirty="0"/>
              <a:t>CONTROL </a:t>
            </a:r>
            <a:r>
              <a:rPr sz="11500" spc="335" dirty="0"/>
              <a:t>CAR</a:t>
            </a:r>
            <a:endParaRPr sz="11500" dirty="0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5666" y="5932828"/>
            <a:ext cx="3971925" cy="6013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750" spc="-245" dirty="0">
                <a:latin typeface="Arial Black"/>
                <a:cs typeface="Arial Black"/>
              </a:rPr>
              <a:t>Saurabh</a:t>
            </a:r>
            <a:r>
              <a:rPr sz="3750" spc="-310" dirty="0">
                <a:latin typeface="Arial Black"/>
                <a:cs typeface="Arial Black"/>
              </a:rPr>
              <a:t> </a:t>
            </a:r>
            <a:r>
              <a:rPr sz="3750" spc="-180" dirty="0">
                <a:latin typeface="Arial Black"/>
                <a:cs typeface="Arial Black"/>
              </a:rPr>
              <a:t>Dwivedi</a:t>
            </a:r>
            <a:endParaRPr sz="375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1728184" y="6741605"/>
            <a:ext cx="1546860" cy="574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10" dirty="0">
                <a:latin typeface="Lucida Sans Unicode"/>
                <a:cs typeface="Lucida Sans Unicode"/>
              </a:rPr>
              <a:t>Leader</a:t>
            </a:r>
            <a:endParaRPr sz="36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85679" y="5688043"/>
            <a:ext cx="2984500" cy="1627505"/>
          </a:xfrm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055"/>
              </a:spcBef>
            </a:pPr>
            <a:r>
              <a:rPr sz="3750" spc="-280" dirty="0">
                <a:latin typeface="Arial Black"/>
                <a:cs typeface="Arial Black"/>
              </a:rPr>
              <a:t>Satvik</a:t>
            </a:r>
            <a:r>
              <a:rPr sz="3750" spc="-335" dirty="0">
                <a:latin typeface="Arial Black"/>
                <a:cs typeface="Arial Black"/>
              </a:rPr>
              <a:t> Tiwari</a:t>
            </a:r>
            <a:endParaRPr sz="375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1835"/>
              </a:spcBef>
            </a:pPr>
            <a:r>
              <a:rPr sz="3600" spc="-10" dirty="0">
                <a:latin typeface="Lucida Sans Unicode"/>
                <a:cs typeface="Lucida Sans Unicode"/>
              </a:rPr>
              <a:t>Member</a:t>
            </a:r>
            <a:endParaRPr sz="36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66823" y="5688043"/>
            <a:ext cx="3511550" cy="1627505"/>
          </a:xfrm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55"/>
              </a:spcBef>
            </a:pPr>
            <a:r>
              <a:rPr sz="3750" spc="-254" dirty="0">
                <a:latin typeface="Arial Black"/>
                <a:cs typeface="Arial Black"/>
              </a:rPr>
              <a:t>Shikhar</a:t>
            </a:r>
            <a:r>
              <a:rPr sz="3750" spc="-355" dirty="0">
                <a:latin typeface="Arial Black"/>
                <a:cs typeface="Arial Black"/>
              </a:rPr>
              <a:t> </a:t>
            </a:r>
            <a:r>
              <a:rPr sz="3750" spc="-290" dirty="0">
                <a:latin typeface="Arial Black"/>
                <a:cs typeface="Arial Black"/>
              </a:rPr>
              <a:t>Porwal</a:t>
            </a:r>
            <a:endParaRPr sz="3750">
              <a:latin typeface="Arial Black"/>
              <a:cs typeface="Arial Black"/>
            </a:endParaRPr>
          </a:p>
          <a:p>
            <a:pPr marL="1021715">
              <a:lnSpc>
                <a:spcPct val="100000"/>
              </a:lnSpc>
              <a:spcBef>
                <a:spcPts val="1835"/>
              </a:spcBef>
            </a:pPr>
            <a:r>
              <a:rPr sz="3600" spc="-10" dirty="0">
                <a:latin typeface="Lucida Sans Unicode"/>
                <a:cs typeface="Lucida Sans Unicode"/>
              </a:rPr>
              <a:t>Member</a:t>
            </a:r>
            <a:endParaRPr sz="36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027021" y="5688043"/>
            <a:ext cx="3801110" cy="1627505"/>
          </a:xfrm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55"/>
              </a:spcBef>
            </a:pPr>
            <a:r>
              <a:rPr sz="3750" spc="-175" dirty="0">
                <a:latin typeface="Arial Black"/>
                <a:cs typeface="Arial Black"/>
              </a:rPr>
              <a:t>Siddharth</a:t>
            </a:r>
            <a:r>
              <a:rPr sz="3750" spc="-300" dirty="0">
                <a:latin typeface="Arial Black"/>
                <a:cs typeface="Arial Black"/>
              </a:rPr>
              <a:t> </a:t>
            </a:r>
            <a:r>
              <a:rPr sz="3750" spc="-275" dirty="0">
                <a:latin typeface="Arial Black"/>
                <a:cs typeface="Arial Black"/>
              </a:rPr>
              <a:t>SIngh</a:t>
            </a:r>
            <a:endParaRPr sz="3750">
              <a:latin typeface="Arial Black"/>
              <a:cs typeface="Arial Black"/>
            </a:endParaRPr>
          </a:p>
          <a:p>
            <a:pPr marL="822960">
              <a:lnSpc>
                <a:spcPct val="100000"/>
              </a:lnSpc>
              <a:spcBef>
                <a:spcPts val="1835"/>
              </a:spcBef>
            </a:pPr>
            <a:r>
              <a:rPr sz="3600" spc="-10" dirty="0">
                <a:latin typeface="Lucida Sans Unicode"/>
                <a:cs typeface="Lucida Sans Unicode"/>
              </a:rPr>
              <a:t>Member</a:t>
            </a:r>
            <a:endParaRPr sz="36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0086" y="2061459"/>
            <a:ext cx="11408410" cy="4919345"/>
          </a:xfrm>
          <a:prstGeom prst="rect">
            <a:avLst/>
          </a:prstGeom>
        </p:spPr>
        <p:txBody>
          <a:bodyPr vert="horz" wrap="square" lIns="0" tIns="6051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765"/>
              </a:spcBef>
            </a:pPr>
            <a:r>
              <a:rPr spc="190" dirty="0"/>
              <a:t>BACKGROUND</a:t>
            </a:r>
          </a:p>
          <a:p>
            <a:pPr marL="12700" marR="5080" indent="-635" algn="ctr">
              <a:lnSpc>
                <a:spcPct val="117300"/>
              </a:lnSpc>
              <a:spcBef>
                <a:spcPts val="1205"/>
              </a:spcBef>
            </a:pPr>
            <a:r>
              <a:rPr sz="3250" b="0" spc="135" dirty="0">
                <a:solidFill>
                  <a:srgbClr val="535353"/>
                </a:solidFill>
                <a:latin typeface="Verdana"/>
                <a:cs typeface="Verdana"/>
              </a:rPr>
              <a:t>An</a:t>
            </a:r>
            <a:r>
              <a:rPr sz="3250" b="0" spc="-21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b="0" spc="-75" dirty="0">
                <a:solidFill>
                  <a:srgbClr val="535353"/>
                </a:solidFill>
                <a:latin typeface="Verdana"/>
                <a:cs typeface="Verdana"/>
              </a:rPr>
              <a:t>RF-</a:t>
            </a:r>
            <a:r>
              <a:rPr sz="3250" b="0" spc="60" dirty="0">
                <a:solidFill>
                  <a:srgbClr val="535353"/>
                </a:solidFill>
                <a:latin typeface="Verdana"/>
                <a:cs typeface="Verdana"/>
              </a:rPr>
              <a:t>controlled</a:t>
            </a:r>
            <a:r>
              <a:rPr sz="3250" b="0" spc="-21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b="0" dirty="0">
                <a:solidFill>
                  <a:srgbClr val="535353"/>
                </a:solidFill>
                <a:latin typeface="Verdana"/>
                <a:cs typeface="Verdana"/>
              </a:rPr>
              <a:t>car</a:t>
            </a:r>
            <a:r>
              <a:rPr sz="3250" b="0" spc="-21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b="0" spc="-70" dirty="0">
                <a:solidFill>
                  <a:srgbClr val="535353"/>
                </a:solidFill>
                <a:latin typeface="Verdana"/>
                <a:cs typeface="Verdana"/>
              </a:rPr>
              <a:t>uses</a:t>
            </a:r>
            <a:r>
              <a:rPr sz="3250" b="0" spc="-21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b="0" dirty="0">
                <a:solidFill>
                  <a:srgbClr val="535353"/>
                </a:solidFill>
                <a:latin typeface="Verdana"/>
                <a:cs typeface="Verdana"/>
              </a:rPr>
              <a:t>radio</a:t>
            </a:r>
            <a:r>
              <a:rPr sz="3250" b="0" spc="-21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b="0" dirty="0">
                <a:solidFill>
                  <a:srgbClr val="535353"/>
                </a:solidFill>
                <a:latin typeface="Verdana"/>
                <a:cs typeface="Verdana"/>
              </a:rPr>
              <a:t>frequency</a:t>
            </a:r>
            <a:r>
              <a:rPr sz="3250" b="0" spc="-21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b="0" spc="-20" dirty="0">
                <a:solidFill>
                  <a:srgbClr val="535353"/>
                </a:solidFill>
                <a:latin typeface="Verdana"/>
                <a:cs typeface="Verdana"/>
              </a:rPr>
              <a:t>signals</a:t>
            </a:r>
            <a:r>
              <a:rPr sz="3250" b="0" spc="-21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b="0" spc="25" dirty="0">
                <a:solidFill>
                  <a:srgbClr val="535353"/>
                </a:solidFill>
                <a:latin typeface="Verdana"/>
                <a:cs typeface="Verdana"/>
              </a:rPr>
              <a:t>to </a:t>
            </a:r>
            <a:r>
              <a:rPr sz="3250" b="0" spc="-30" dirty="0">
                <a:solidFill>
                  <a:srgbClr val="535353"/>
                </a:solidFill>
                <a:latin typeface="Verdana"/>
                <a:cs typeface="Verdana"/>
              </a:rPr>
              <a:t>wirelessly</a:t>
            </a:r>
            <a:r>
              <a:rPr sz="3250" b="0" spc="-24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b="0" spc="50" dirty="0">
                <a:solidFill>
                  <a:srgbClr val="535353"/>
                </a:solidFill>
                <a:latin typeface="Verdana"/>
                <a:cs typeface="Verdana"/>
              </a:rPr>
              <a:t>control</a:t>
            </a:r>
            <a:r>
              <a:rPr sz="3250" b="0" spc="-23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b="0" dirty="0">
                <a:solidFill>
                  <a:srgbClr val="535353"/>
                </a:solidFill>
                <a:latin typeface="Verdana"/>
                <a:cs typeface="Verdana"/>
              </a:rPr>
              <a:t>vehicle</a:t>
            </a:r>
            <a:r>
              <a:rPr sz="3250" b="0" spc="-23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b="0" spc="45" dirty="0">
                <a:solidFill>
                  <a:srgbClr val="535353"/>
                </a:solidFill>
                <a:latin typeface="Verdana"/>
                <a:cs typeface="Verdana"/>
              </a:rPr>
              <a:t>movement</a:t>
            </a:r>
            <a:r>
              <a:rPr sz="3250" b="0" spc="-23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b="0" spc="-75" dirty="0">
                <a:solidFill>
                  <a:srgbClr val="535353"/>
                </a:solidFill>
                <a:latin typeface="Verdana"/>
                <a:cs typeface="Verdana"/>
              </a:rPr>
              <a:t>via</a:t>
            </a:r>
            <a:r>
              <a:rPr sz="3250" b="0" spc="-24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b="0" spc="-40" dirty="0">
                <a:solidFill>
                  <a:srgbClr val="535353"/>
                </a:solidFill>
                <a:latin typeface="Verdana"/>
                <a:cs typeface="Verdana"/>
              </a:rPr>
              <a:t>a</a:t>
            </a:r>
            <a:r>
              <a:rPr sz="3250" b="0" spc="-23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b="0" spc="-10" dirty="0">
                <a:solidFill>
                  <a:srgbClr val="535353"/>
                </a:solidFill>
                <a:latin typeface="Verdana"/>
                <a:cs typeface="Verdana"/>
              </a:rPr>
              <a:t>transmitter </a:t>
            </a:r>
            <a:r>
              <a:rPr sz="3250" b="0" spc="85" dirty="0">
                <a:solidFill>
                  <a:srgbClr val="535353"/>
                </a:solidFill>
                <a:latin typeface="Verdana"/>
                <a:cs typeface="Verdana"/>
              </a:rPr>
              <a:t>and</a:t>
            </a:r>
            <a:r>
              <a:rPr sz="3250" b="0" spc="-8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b="0" spc="-100" dirty="0">
                <a:solidFill>
                  <a:srgbClr val="535353"/>
                </a:solidFill>
                <a:latin typeface="Verdana"/>
                <a:cs typeface="Verdana"/>
              </a:rPr>
              <a:t>receiver,</a:t>
            </a:r>
            <a:r>
              <a:rPr sz="3250" b="0" spc="-8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b="0" dirty="0">
                <a:solidFill>
                  <a:srgbClr val="535353"/>
                </a:solidFill>
                <a:latin typeface="Verdana"/>
                <a:cs typeface="Verdana"/>
              </a:rPr>
              <a:t>demonstrating</a:t>
            </a:r>
            <a:r>
              <a:rPr sz="3250" b="0" spc="-8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b="0" dirty="0">
                <a:solidFill>
                  <a:srgbClr val="535353"/>
                </a:solidFill>
                <a:latin typeface="Verdana"/>
                <a:cs typeface="Verdana"/>
              </a:rPr>
              <a:t>basic</a:t>
            </a:r>
            <a:r>
              <a:rPr sz="3250" b="0" spc="-8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b="0" spc="-10" dirty="0">
                <a:solidFill>
                  <a:srgbClr val="535353"/>
                </a:solidFill>
                <a:latin typeface="Verdana"/>
                <a:cs typeface="Verdana"/>
              </a:rPr>
              <a:t>wireless </a:t>
            </a:r>
            <a:r>
              <a:rPr sz="3250" b="0" spc="45" dirty="0">
                <a:solidFill>
                  <a:srgbClr val="535353"/>
                </a:solidFill>
                <a:latin typeface="Verdana"/>
                <a:cs typeface="Verdana"/>
              </a:rPr>
              <a:t>communication,</a:t>
            </a:r>
            <a:r>
              <a:rPr sz="3250" b="0" spc="-24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b="0" spc="50" dirty="0">
                <a:solidFill>
                  <a:srgbClr val="535353"/>
                </a:solidFill>
                <a:latin typeface="Verdana"/>
                <a:cs typeface="Verdana"/>
              </a:rPr>
              <a:t>motor</a:t>
            </a:r>
            <a:r>
              <a:rPr sz="3250" b="0" spc="-23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b="0" spc="-25" dirty="0">
                <a:solidFill>
                  <a:srgbClr val="535353"/>
                </a:solidFill>
                <a:latin typeface="Verdana"/>
                <a:cs typeface="Verdana"/>
              </a:rPr>
              <a:t>control,</a:t>
            </a:r>
            <a:r>
              <a:rPr sz="3250" b="0" spc="-24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b="0" spc="85" dirty="0">
                <a:solidFill>
                  <a:srgbClr val="535353"/>
                </a:solidFill>
                <a:latin typeface="Verdana"/>
                <a:cs typeface="Verdana"/>
              </a:rPr>
              <a:t>and</a:t>
            </a:r>
            <a:r>
              <a:rPr sz="3250" b="0" spc="-23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b="0" spc="110" dirty="0">
                <a:solidFill>
                  <a:srgbClr val="535353"/>
                </a:solidFill>
                <a:latin typeface="Verdana"/>
                <a:cs typeface="Verdana"/>
              </a:rPr>
              <a:t>embedded</a:t>
            </a:r>
            <a:r>
              <a:rPr sz="3250" b="0" spc="-24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b="0" spc="-10" dirty="0">
                <a:solidFill>
                  <a:srgbClr val="535353"/>
                </a:solidFill>
                <a:latin typeface="Verdana"/>
                <a:cs typeface="Verdana"/>
              </a:rPr>
              <a:t>system </a:t>
            </a:r>
            <a:r>
              <a:rPr sz="3250" b="0" dirty="0">
                <a:solidFill>
                  <a:srgbClr val="535353"/>
                </a:solidFill>
                <a:latin typeface="Verdana"/>
                <a:cs typeface="Verdana"/>
              </a:rPr>
              <a:t>operation</a:t>
            </a:r>
            <a:r>
              <a:rPr sz="3250" b="0" spc="2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b="0" spc="-10" dirty="0">
                <a:solidFill>
                  <a:srgbClr val="535353"/>
                </a:solidFill>
                <a:latin typeface="Verdana"/>
                <a:cs typeface="Verdana"/>
              </a:rPr>
              <a:t>principles.</a:t>
            </a:r>
            <a:endParaRPr sz="325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2042" y="6526097"/>
            <a:ext cx="3910147" cy="376090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541415" y="9464179"/>
            <a:ext cx="11673205" cy="0"/>
          </a:xfrm>
          <a:custGeom>
            <a:avLst/>
            <a:gdLst/>
            <a:ahLst/>
            <a:cxnLst/>
            <a:rect l="l" t="t" r="r" b="b"/>
            <a:pathLst>
              <a:path w="11673205">
                <a:moveTo>
                  <a:pt x="0" y="0"/>
                </a:moveTo>
                <a:lnTo>
                  <a:pt x="11672840" y="0"/>
                </a:lnTo>
              </a:path>
            </a:pathLst>
          </a:custGeom>
          <a:ln w="9524">
            <a:solidFill>
              <a:srgbClr val="53535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41415" y="9464179"/>
            <a:ext cx="11673205" cy="0"/>
          </a:xfrm>
          <a:custGeom>
            <a:avLst/>
            <a:gdLst/>
            <a:ahLst/>
            <a:cxnLst/>
            <a:rect l="l" t="t" r="r" b="b"/>
            <a:pathLst>
              <a:path w="11673205">
                <a:moveTo>
                  <a:pt x="0" y="0"/>
                </a:moveTo>
                <a:lnTo>
                  <a:pt x="11672840" y="0"/>
                </a:lnTo>
              </a:path>
            </a:pathLst>
          </a:custGeom>
          <a:ln w="9524">
            <a:solidFill>
              <a:srgbClr val="53535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0004" y="4676965"/>
            <a:ext cx="5553074" cy="41624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28986" y="2072871"/>
            <a:ext cx="5562599" cy="370522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16000" y="2863051"/>
            <a:ext cx="11053445" cy="1187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7300"/>
              </a:lnSpc>
              <a:spcBef>
                <a:spcPts val="95"/>
              </a:spcBef>
            </a:pPr>
            <a:r>
              <a:rPr sz="3250" spc="-10" dirty="0">
                <a:solidFill>
                  <a:srgbClr val="535353"/>
                </a:solidFill>
                <a:latin typeface="Verdana"/>
                <a:cs typeface="Verdana"/>
              </a:rPr>
              <a:t>The</a:t>
            </a:r>
            <a:r>
              <a:rPr sz="3250" spc="-20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dirty="0">
                <a:solidFill>
                  <a:srgbClr val="535353"/>
                </a:solidFill>
                <a:latin typeface="Verdana"/>
                <a:cs typeface="Verdana"/>
              </a:rPr>
              <a:t>project</a:t>
            </a:r>
            <a:r>
              <a:rPr sz="3250" spc="-20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dirty="0">
                <a:solidFill>
                  <a:srgbClr val="535353"/>
                </a:solidFill>
                <a:latin typeface="Verdana"/>
                <a:cs typeface="Verdana"/>
              </a:rPr>
              <a:t>aims</a:t>
            </a:r>
            <a:r>
              <a:rPr sz="3250" spc="-20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50" dirty="0">
                <a:solidFill>
                  <a:srgbClr val="535353"/>
                </a:solidFill>
                <a:latin typeface="Verdana"/>
                <a:cs typeface="Verdana"/>
              </a:rPr>
              <a:t>to</a:t>
            </a:r>
            <a:r>
              <a:rPr sz="3250" spc="-19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dirty="0">
                <a:solidFill>
                  <a:srgbClr val="535353"/>
                </a:solidFill>
                <a:latin typeface="Verdana"/>
                <a:cs typeface="Verdana"/>
              </a:rPr>
              <a:t>design</a:t>
            </a:r>
            <a:r>
              <a:rPr sz="3250" spc="-20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85" dirty="0">
                <a:solidFill>
                  <a:srgbClr val="535353"/>
                </a:solidFill>
                <a:latin typeface="Verdana"/>
                <a:cs typeface="Verdana"/>
              </a:rPr>
              <a:t>and</a:t>
            </a:r>
            <a:r>
              <a:rPr sz="3250" spc="-20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dirty="0">
                <a:solidFill>
                  <a:srgbClr val="535353"/>
                </a:solidFill>
                <a:latin typeface="Verdana"/>
                <a:cs typeface="Verdana"/>
              </a:rPr>
              <a:t>develop</a:t>
            </a:r>
            <a:r>
              <a:rPr sz="3250" spc="-19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-40" dirty="0">
                <a:solidFill>
                  <a:srgbClr val="535353"/>
                </a:solidFill>
                <a:latin typeface="Verdana"/>
                <a:cs typeface="Verdana"/>
              </a:rPr>
              <a:t>a</a:t>
            </a:r>
            <a:r>
              <a:rPr sz="3250" spc="-20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-20" dirty="0">
                <a:solidFill>
                  <a:srgbClr val="535353"/>
                </a:solidFill>
                <a:latin typeface="Verdana"/>
                <a:cs typeface="Verdana"/>
              </a:rPr>
              <a:t>wireless</a:t>
            </a:r>
            <a:r>
              <a:rPr sz="3250" spc="-20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-25" dirty="0">
                <a:solidFill>
                  <a:srgbClr val="535353"/>
                </a:solidFill>
                <a:latin typeface="Verdana"/>
                <a:cs typeface="Verdana"/>
              </a:rPr>
              <a:t>car </a:t>
            </a:r>
            <a:r>
              <a:rPr sz="3250" spc="60" dirty="0">
                <a:solidFill>
                  <a:srgbClr val="535353"/>
                </a:solidFill>
                <a:latin typeface="Verdana"/>
                <a:cs typeface="Verdana"/>
              </a:rPr>
              <a:t>controlled</a:t>
            </a:r>
            <a:r>
              <a:rPr sz="3250" spc="-19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-75" dirty="0">
                <a:solidFill>
                  <a:srgbClr val="535353"/>
                </a:solidFill>
                <a:latin typeface="Verdana"/>
                <a:cs typeface="Verdana"/>
              </a:rPr>
              <a:t>via</a:t>
            </a:r>
            <a:r>
              <a:rPr sz="3250" spc="-19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dirty="0">
                <a:solidFill>
                  <a:srgbClr val="535353"/>
                </a:solidFill>
                <a:latin typeface="Verdana"/>
                <a:cs typeface="Verdana"/>
              </a:rPr>
              <a:t>radio</a:t>
            </a:r>
            <a:r>
              <a:rPr sz="3250" spc="-19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dirty="0">
                <a:solidFill>
                  <a:srgbClr val="535353"/>
                </a:solidFill>
                <a:latin typeface="Verdana"/>
                <a:cs typeface="Verdana"/>
              </a:rPr>
              <a:t>frequency</a:t>
            </a:r>
            <a:r>
              <a:rPr sz="3250" spc="-19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-10" dirty="0">
                <a:solidFill>
                  <a:srgbClr val="535353"/>
                </a:solidFill>
                <a:latin typeface="Verdana"/>
                <a:cs typeface="Verdana"/>
              </a:rPr>
              <a:t>signals.</a:t>
            </a:r>
            <a:endParaRPr sz="3250">
              <a:latin typeface="Verdana"/>
              <a:cs typeface="Verdan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028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200" dirty="0"/>
              <a:t>PROJECT</a:t>
            </a:r>
            <a:r>
              <a:rPr spc="-160" dirty="0"/>
              <a:t> </a:t>
            </a:r>
            <a:r>
              <a:rPr spc="180" dirty="0"/>
              <a:t>GOALS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560585" y="6298160"/>
            <a:ext cx="10685145" cy="11874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7300"/>
              </a:lnSpc>
              <a:spcBef>
                <a:spcPts val="95"/>
              </a:spcBef>
            </a:pPr>
            <a:r>
              <a:rPr sz="3250" spc="-175" dirty="0">
                <a:solidFill>
                  <a:srgbClr val="535353"/>
                </a:solidFill>
                <a:latin typeface="Verdana"/>
                <a:cs typeface="Verdana"/>
              </a:rPr>
              <a:t>It</a:t>
            </a:r>
            <a:r>
              <a:rPr sz="3250" spc="-8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-10" dirty="0">
                <a:solidFill>
                  <a:srgbClr val="535353"/>
                </a:solidFill>
                <a:latin typeface="Verdana"/>
                <a:cs typeface="Verdana"/>
              </a:rPr>
              <a:t>focuses</a:t>
            </a:r>
            <a:r>
              <a:rPr sz="3250" spc="-8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75" dirty="0">
                <a:solidFill>
                  <a:srgbClr val="535353"/>
                </a:solidFill>
                <a:latin typeface="Verdana"/>
                <a:cs typeface="Verdana"/>
              </a:rPr>
              <a:t>on</a:t>
            </a:r>
            <a:r>
              <a:rPr sz="3250" spc="-8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dirty="0">
                <a:solidFill>
                  <a:srgbClr val="535353"/>
                </a:solidFill>
                <a:latin typeface="Verdana"/>
                <a:cs typeface="Verdana"/>
              </a:rPr>
              <a:t>demonstrating</a:t>
            </a:r>
            <a:r>
              <a:rPr sz="3250" spc="-8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dirty="0">
                <a:solidFill>
                  <a:srgbClr val="535353"/>
                </a:solidFill>
                <a:latin typeface="Verdana"/>
                <a:cs typeface="Verdana"/>
              </a:rPr>
              <a:t>efficient</a:t>
            </a:r>
            <a:r>
              <a:rPr sz="3250" spc="-8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-10" dirty="0">
                <a:solidFill>
                  <a:srgbClr val="535353"/>
                </a:solidFill>
                <a:latin typeface="Verdana"/>
                <a:cs typeface="Verdana"/>
              </a:rPr>
              <a:t>remote </a:t>
            </a:r>
            <a:r>
              <a:rPr sz="3250" spc="-25" dirty="0">
                <a:solidFill>
                  <a:srgbClr val="535353"/>
                </a:solidFill>
                <a:latin typeface="Verdana"/>
                <a:cs typeface="Verdana"/>
              </a:rPr>
              <a:t>operation,</a:t>
            </a:r>
            <a:r>
              <a:rPr sz="3250" spc="-18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50" dirty="0">
                <a:solidFill>
                  <a:srgbClr val="535353"/>
                </a:solidFill>
                <a:latin typeface="Verdana"/>
                <a:cs typeface="Verdana"/>
              </a:rPr>
              <a:t>motor</a:t>
            </a:r>
            <a:r>
              <a:rPr sz="3250" spc="-18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-25" dirty="0">
                <a:solidFill>
                  <a:srgbClr val="535353"/>
                </a:solidFill>
                <a:latin typeface="Verdana"/>
                <a:cs typeface="Verdana"/>
              </a:rPr>
              <a:t>control,</a:t>
            </a:r>
            <a:r>
              <a:rPr sz="3250" spc="-18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85" dirty="0">
                <a:solidFill>
                  <a:srgbClr val="535353"/>
                </a:solidFill>
                <a:latin typeface="Verdana"/>
                <a:cs typeface="Verdana"/>
              </a:rPr>
              <a:t>and</a:t>
            </a:r>
            <a:r>
              <a:rPr sz="3250" spc="-18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dirty="0">
                <a:solidFill>
                  <a:srgbClr val="535353"/>
                </a:solidFill>
                <a:latin typeface="Verdana"/>
                <a:cs typeface="Verdana"/>
              </a:rPr>
              <a:t>basic</a:t>
            </a:r>
            <a:r>
              <a:rPr sz="3250" spc="-18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dirty="0">
                <a:solidFill>
                  <a:srgbClr val="535353"/>
                </a:solidFill>
                <a:latin typeface="Verdana"/>
                <a:cs typeface="Verdana"/>
              </a:rPr>
              <a:t>robotics</a:t>
            </a:r>
            <a:r>
              <a:rPr sz="3250" spc="-18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65" dirty="0">
                <a:solidFill>
                  <a:srgbClr val="535353"/>
                </a:solidFill>
                <a:latin typeface="Verdana"/>
                <a:cs typeface="Verdana"/>
              </a:rPr>
              <a:t>princip</a:t>
            </a:r>
            <a:endParaRPr sz="3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2042" y="6526097"/>
            <a:ext cx="3910147" cy="3760902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541415" y="9464179"/>
            <a:ext cx="11673205" cy="0"/>
          </a:xfrm>
          <a:custGeom>
            <a:avLst/>
            <a:gdLst/>
            <a:ahLst/>
            <a:cxnLst/>
            <a:rect l="l" t="t" r="r" b="b"/>
            <a:pathLst>
              <a:path w="11673205">
                <a:moveTo>
                  <a:pt x="0" y="0"/>
                </a:moveTo>
                <a:lnTo>
                  <a:pt x="11672840" y="0"/>
                </a:lnTo>
              </a:path>
            </a:pathLst>
          </a:custGeom>
          <a:ln w="9524">
            <a:solidFill>
              <a:srgbClr val="53535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0" y="2000980"/>
            <a:ext cx="6877049" cy="687704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465832" y="2049456"/>
            <a:ext cx="5280660" cy="6491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7785">
              <a:lnSpc>
                <a:spcPct val="117300"/>
              </a:lnSpc>
              <a:spcBef>
                <a:spcPts val="95"/>
              </a:spcBef>
            </a:pPr>
            <a:r>
              <a:rPr sz="3250" spc="-10" dirty="0">
                <a:solidFill>
                  <a:srgbClr val="535353"/>
                </a:solidFill>
                <a:latin typeface="Verdana"/>
                <a:cs typeface="Verdana"/>
              </a:rPr>
              <a:t>The</a:t>
            </a:r>
            <a:r>
              <a:rPr sz="3250" spc="-24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dirty="0">
                <a:solidFill>
                  <a:srgbClr val="535353"/>
                </a:solidFill>
                <a:latin typeface="Verdana"/>
                <a:cs typeface="Verdana"/>
              </a:rPr>
              <a:t>transmitter</a:t>
            </a:r>
            <a:r>
              <a:rPr sz="3250" spc="-24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-10" dirty="0">
                <a:solidFill>
                  <a:srgbClr val="535353"/>
                </a:solidFill>
                <a:latin typeface="Verdana"/>
                <a:cs typeface="Verdana"/>
              </a:rPr>
              <a:t>sends </a:t>
            </a:r>
            <a:r>
              <a:rPr sz="3250" spc="90" dirty="0">
                <a:solidFill>
                  <a:srgbClr val="535353"/>
                </a:solidFill>
                <a:latin typeface="Verdana"/>
                <a:cs typeface="Verdana"/>
              </a:rPr>
              <a:t>encoded</a:t>
            </a:r>
            <a:r>
              <a:rPr sz="3250" spc="-23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-20" dirty="0">
                <a:solidFill>
                  <a:srgbClr val="535353"/>
                </a:solidFill>
                <a:latin typeface="Verdana"/>
                <a:cs typeface="Verdana"/>
              </a:rPr>
              <a:t>signals</a:t>
            </a:r>
            <a:r>
              <a:rPr sz="3250" spc="-229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35" dirty="0">
                <a:solidFill>
                  <a:srgbClr val="535353"/>
                </a:solidFill>
                <a:latin typeface="Verdana"/>
                <a:cs typeface="Verdana"/>
              </a:rPr>
              <a:t>through </a:t>
            </a:r>
            <a:r>
              <a:rPr sz="3250" dirty="0">
                <a:solidFill>
                  <a:srgbClr val="535353"/>
                </a:solidFill>
                <a:latin typeface="Verdana"/>
                <a:cs typeface="Verdana"/>
              </a:rPr>
              <a:t>the</a:t>
            </a:r>
            <a:r>
              <a:rPr sz="3250" spc="-204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dirty="0">
                <a:solidFill>
                  <a:srgbClr val="535353"/>
                </a:solidFill>
                <a:latin typeface="Verdana"/>
                <a:cs typeface="Verdana"/>
              </a:rPr>
              <a:t>RF</a:t>
            </a:r>
            <a:r>
              <a:rPr sz="3250" spc="-204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95" dirty="0">
                <a:solidFill>
                  <a:srgbClr val="535353"/>
                </a:solidFill>
                <a:latin typeface="Verdana"/>
                <a:cs typeface="Verdana"/>
              </a:rPr>
              <a:t>module</a:t>
            </a:r>
            <a:r>
              <a:rPr sz="3250" spc="-204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50" dirty="0">
                <a:solidFill>
                  <a:srgbClr val="535353"/>
                </a:solidFill>
                <a:latin typeface="Verdana"/>
                <a:cs typeface="Verdana"/>
              </a:rPr>
              <a:t>to</a:t>
            </a:r>
            <a:r>
              <a:rPr sz="3250" spc="-204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40" dirty="0">
                <a:solidFill>
                  <a:srgbClr val="535353"/>
                </a:solidFill>
                <a:latin typeface="Verdana"/>
                <a:cs typeface="Verdana"/>
              </a:rPr>
              <a:t>control </a:t>
            </a:r>
            <a:r>
              <a:rPr sz="3250" dirty="0">
                <a:solidFill>
                  <a:srgbClr val="535353"/>
                </a:solidFill>
                <a:latin typeface="Verdana"/>
                <a:cs typeface="Verdana"/>
              </a:rPr>
              <a:t>the</a:t>
            </a:r>
            <a:r>
              <a:rPr sz="3250" spc="-17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-30" dirty="0">
                <a:solidFill>
                  <a:srgbClr val="535353"/>
                </a:solidFill>
                <a:latin typeface="Verdana"/>
                <a:cs typeface="Verdana"/>
              </a:rPr>
              <a:t>vehicle’s</a:t>
            </a:r>
            <a:r>
              <a:rPr sz="3250" spc="-17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-10" dirty="0">
                <a:solidFill>
                  <a:srgbClr val="535353"/>
                </a:solidFill>
                <a:latin typeface="Verdana"/>
                <a:cs typeface="Verdana"/>
              </a:rPr>
              <a:t>motion.</a:t>
            </a:r>
            <a:endParaRPr sz="32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15"/>
              </a:spcBef>
            </a:pPr>
            <a:endParaRPr sz="3250">
              <a:latin typeface="Verdana"/>
              <a:cs typeface="Verdana"/>
            </a:endParaRPr>
          </a:p>
          <a:p>
            <a:pPr marL="12700" marR="5080">
              <a:lnSpc>
                <a:spcPct val="117300"/>
              </a:lnSpc>
            </a:pPr>
            <a:r>
              <a:rPr sz="3250" spc="-10" dirty="0">
                <a:solidFill>
                  <a:srgbClr val="535353"/>
                </a:solidFill>
                <a:latin typeface="Verdana"/>
                <a:cs typeface="Verdana"/>
              </a:rPr>
              <a:t>The</a:t>
            </a:r>
            <a:r>
              <a:rPr sz="3250" spc="-254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-75" dirty="0">
                <a:solidFill>
                  <a:srgbClr val="535353"/>
                </a:solidFill>
                <a:latin typeface="Verdana"/>
                <a:cs typeface="Verdana"/>
              </a:rPr>
              <a:t>RF-</a:t>
            </a:r>
            <a:r>
              <a:rPr sz="3250" spc="60" dirty="0">
                <a:solidFill>
                  <a:srgbClr val="535353"/>
                </a:solidFill>
                <a:latin typeface="Verdana"/>
                <a:cs typeface="Verdana"/>
              </a:rPr>
              <a:t>controlled</a:t>
            </a:r>
            <a:r>
              <a:rPr sz="3250" spc="-25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-25" dirty="0">
                <a:solidFill>
                  <a:srgbClr val="535353"/>
                </a:solidFill>
                <a:latin typeface="Verdana"/>
                <a:cs typeface="Verdana"/>
              </a:rPr>
              <a:t>car </a:t>
            </a:r>
            <a:r>
              <a:rPr sz="3250" dirty="0">
                <a:solidFill>
                  <a:srgbClr val="535353"/>
                </a:solidFill>
                <a:latin typeface="Verdana"/>
                <a:cs typeface="Verdana"/>
              </a:rPr>
              <a:t>project</a:t>
            </a:r>
            <a:r>
              <a:rPr sz="3250" spc="-17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dirty="0">
                <a:solidFill>
                  <a:srgbClr val="535353"/>
                </a:solidFill>
                <a:latin typeface="Verdana"/>
                <a:cs typeface="Verdana"/>
              </a:rPr>
              <a:t>demonstrates</a:t>
            </a:r>
            <a:r>
              <a:rPr sz="3250" spc="-17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-25" dirty="0">
                <a:solidFill>
                  <a:srgbClr val="535353"/>
                </a:solidFill>
                <a:latin typeface="Verdana"/>
                <a:cs typeface="Verdana"/>
              </a:rPr>
              <a:t>the </a:t>
            </a:r>
            <a:r>
              <a:rPr sz="3250" spc="45" dirty="0">
                <a:solidFill>
                  <a:srgbClr val="535353"/>
                </a:solidFill>
                <a:latin typeface="Verdana"/>
                <a:cs typeface="Verdana"/>
              </a:rPr>
              <a:t>practical</a:t>
            </a:r>
            <a:r>
              <a:rPr sz="3250" spc="-24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65" dirty="0">
                <a:solidFill>
                  <a:srgbClr val="535353"/>
                </a:solidFill>
                <a:latin typeface="Verdana"/>
                <a:cs typeface="Verdana"/>
              </a:rPr>
              <a:t>application</a:t>
            </a:r>
            <a:r>
              <a:rPr sz="3250" spc="-23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-25" dirty="0">
                <a:solidFill>
                  <a:srgbClr val="535353"/>
                </a:solidFill>
                <a:latin typeface="Verdana"/>
                <a:cs typeface="Verdana"/>
              </a:rPr>
              <a:t>of </a:t>
            </a:r>
            <a:r>
              <a:rPr sz="3250" spc="-20" dirty="0">
                <a:solidFill>
                  <a:srgbClr val="535353"/>
                </a:solidFill>
                <a:latin typeface="Verdana"/>
                <a:cs typeface="Verdana"/>
              </a:rPr>
              <a:t>wireless</a:t>
            </a:r>
            <a:r>
              <a:rPr sz="3250" spc="-24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75" dirty="0">
                <a:solidFill>
                  <a:srgbClr val="535353"/>
                </a:solidFill>
                <a:latin typeface="Verdana"/>
                <a:cs typeface="Verdana"/>
              </a:rPr>
              <a:t>communication </a:t>
            </a:r>
            <a:r>
              <a:rPr sz="3250" dirty="0">
                <a:solidFill>
                  <a:srgbClr val="535353"/>
                </a:solidFill>
                <a:latin typeface="Verdana"/>
                <a:cs typeface="Verdana"/>
              </a:rPr>
              <a:t>using</a:t>
            </a:r>
            <a:r>
              <a:rPr sz="3250" spc="-15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dirty="0">
                <a:solidFill>
                  <a:srgbClr val="535353"/>
                </a:solidFill>
                <a:latin typeface="Verdana"/>
                <a:cs typeface="Verdana"/>
              </a:rPr>
              <a:t>radio</a:t>
            </a:r>
            <a:r>
              <a:rPr sz="3250" spc="-15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-10" dirty="0">
                <a:solidFill>
                  <a:srgbClr val="535353"/>
                </a:solidFill>
                <a:latin typeface="Verdana"/>
                <a:cs typeface="Verdana"/>
              </a:rPr>
              <a:t>frequency signals.</a:t>
            </a:r>
            <a:endParaRPr sz="325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65832" y="598519"/>
            <a:ext cx="3088640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00" b="0" spc="-505" dirty="0">
                <a:solidFill>
                  <a:srgbClr val="535353"/>
                </a:solidFill>
                <a:latin typeface="Arial Black"/>
                <a:cs typeface="Arial Black"/>
              </a:rPr>
              <a:t>PROCESS</a:t>
            </a:r>
            <a:endParaRPr sz="52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90" dirty="0"/>
              <a:t>SUBJECT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876447" y="4199407"/>
            <a:ext cx="7152640" cy="1768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7300"/>
              </a:lnSpc>
              <a:spcBef>
                <a:spcPts val="95"/>
              </a:spcBef>
            </a:pPr>
            <a:r>
              <a:rPr sz="3250" spc="-10" dirty="0">
                <a:solidFill>
                  <a:srgbClr val="535353"/>
                </a:solidFill>
                <a:latin typeface="Verdana"/>
                <a:cs typeface="Verdana"/>
              </a:rPr>
              <a:t>The</a:t>
            </a:r>
            <a:r>
              <a:rPr sz="3250" spc="-254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-45" dirty="0">
                <a:solidFill>
                  <a:srgbClr val="535353"/>
                </a:solidFill>
                <a:latin typeface="Verdana"/>
                <a:cs typeface="Verdana"/>
              </a:rPr>
              <a:t>receiver</a:t>
            </a:r>
            <a:r>
              <a:rPr sz="3250" spc="-25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55" dirty="0">
                <a:solidFill>
                  <a:srgbClr val="535353"/>
                </a:solidFill>
                <a:latin typeface="Verdana"/>
                <a:cs typeface="Verdana"/>
              </a:rPr>
              <a:t>decodes</a:t>
            </a:r>
            <a:r>
              <a:rPr sz="3250" spc="-25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-10" dirty="0">
                <a:solidFill>
                  <a:srgbClr val="535353"/>
                </a:solidFill>
                <a:latin typeface="Verdana"/>
                <a:cs typeface="Verdana"/>
              </a:rPr>
              <a:t>these</a:t>
            </a:r>
            <a:r>
              <a:rPr sz="3250" spc="-254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-10" dirty="0">
                <a:solidFill>
                  <a:srgbClr val="535353"/>
                </a:solidFill>
                <a:latin typeface="Verdana"/>
                <a:cs typeface="Verdana"/>
              </a:rPr>
              <a:t>signals </a:t>
            </a:r>
            <a:r>
              <a:rPr sz="3250" spc="85" dirty="0">
                <a:solidFill>
                  <a:srgbClr val="535353"/>
                </a:solidFill>
                <a:latin typeface="Verdana"/>
                <a:cs typeface="Verdana"/>
              </a:rPr>
              <a:t>and</a:t>
            </a:r>
            <a:r>
              <a:rPr sz="3250" spc="-21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-30" dirty="0">
                <a:solidFill>
                  <a:srgbClr val="535353"/>
                </a:solidFill>
                <a:latin typeface="Verdana"/>
                <a:cs typeface="Verdana"/>
              </a:rPr>
              <a:t>triggers</a:t>
            </a:r>
            <a:r>
              <a:rPr sz="3250" spc="-21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dirty="0">
                <a:solidFill>
                  <a:srgbClr val="535353"/>
                </a:solidFill>
                <a:latin typeface="Verdana"/>
                <a:cs typeface="Verdana"/>
              </a:rPr>
              <a:t>the</a:t>
            </a:r>
            <a:r>
              <a:rPr sz="3250" spc="-204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-10" dirty="0">
                <a:solidFill>
                  <a:srgbClr val="535353"/>
                </a:solidFill>
                <a:latin typeface="Verdana"/>
                <a:cs typeface="Verdana"/>
              </a:rPr>
              <a:t>appropriate </a:t>
            </a:r>
            <a:r>
              <a:rPr sz="3250" dirty="0">
                <a:solidFill>
                  <a:srgbClr val="535353"/>
                </a:solidFill>
                <a:latin typeface="Verdana"/>
                <a:cs typeface="Verdana"/>
              </a:rPr>
              <a:t>motors</a:t>
            </a:r>
            <a:r>
              <a:rPr sz="3250" spc="-23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-75" dirty="0">
                <a:solidFill>
                  <a:srgbClr val="535353"/>
                </a:solidFill>
                <a:latin typeface="Verdana"/>
                <a:cs typeface="Verdana"/>
              </a:rPr>
              <a:t>via</a:t>
            </a:r>
            <a:r>
              <a:rPr sz="3250" spc="-23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-40" dirty="0">
                <a:solidFill>
                  <a:srgbClr val="535353"/>
                </a:solidFill>
                <a:latin typeface="Verdana"/>
                <a:cs typeface="Verdana"/>
              </a:rPr>
              <a:t>a</a:t>
            </a:r>
            <a:r>
              <a:rPr sz="3250" spc="-23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50" dirty="0">
                <a:solidFill>
                  <a:srgbClr val="535353"/>
                </a:solidFill>
                <a:latin typeface="Verdana"/>
                <a:cs typeface="Verdana"/>
              </a:rPr>
              <a:t>motor</a:t>
            </a:r>
            <a:r>
              <a:rPr sz="3250" spc="-23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-45" dirty="0">
                <a:solidFill>
                  <a:srgbClr val="535353"/>
                </a:solidFill>
                <a:latin typeface="Verdana"/>
                <a:cs typeface="Verdana"/>
              </a:rPr>
              <a:t>driver</a:t>
            </a:r>
            <a:r>
              <a:rPr sz="3250" spc="-23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-10" dirty="0">
                <a:solidFill>
                  <a:srgbClr val="535353"/>
                </a:solidFill>
                <a:latin typeface="Verdana"/>
                <a:cs typeface="Verdana"/>
              </a:rPr>
              <a:t>circuit.</a:t>
            </a:r>
            <a:endParaRPr sz="3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7198" rIns="0" bIns="0" rtlCol="0">
            <a:spAutoFit/>
          </a:bodyPr>
          <a:lstStyle/>
          <a:p>
            <a:pPr marL="1351915">
              <a:lnSpc>
                <a:spcPct val="100000"/>
              </a:lnSpc>
              <a:spcBef>
                <a:spcPts val="125"/>
              </a:spcBef>
            </a:pPr>
            <a:r>
              <a:rPr spc="200" dirty="0"/>
              <a:t>SUBJECT</a:t>
            </a:r>
            <a:r>
              <a:rPr spc="-185" dirty="0"/>
              <a:t> </a:t>
            </a:r>
            <a:r>
              <a:rPr spc="-310" dirty="0"/>
              <a:t>2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2042" y="6526097"/>
            <a:ext cx="3910147" cy="376090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541415" y="9464179"/>
            <a:ext cx="11673205" cy="0"/>
          </a:xfrm>
          <a:custGeom>
            <a:avLst/>
            <a:gdLst/>
            <a:ahLst/>
            <a:cxnLst/>
            <a:rect l="l" t="t" r="r" b="b"/>
            <a:pathLst>
              <a:path w="11673205">
                <a:moveTo>
                  <a:pt x="0" y="0"/>
                </a:moveTo>
                <a:lnTo>
                  <a:pt x="11672840" y="0"/>
                </a:lnTo>
              </a:path>
            </a:pathLst>
          </a:custGeom>
          <a:ln w="9524">
            <a:solidFill>
              <a:srgbClr val="53535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481300" y="2928512"/>
            <a:ext cx="7192009" cy="47377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692910">
              <a:lnSpc>
                <a:spcPct val="117300"/>
              </a:lnSpc>
              <a:spcBef>
                <a:spcPts val="95"/>
              </a:spcBef>
            </a:pPr>
            <a:r>
              <a:rPr sz="3250" spc="-10" dirty="0">
                <a:solidFill>
                  <a:srgbClr val="535353"/>
                </a:solidFill>
                <a:latin typeface="Verdana"/>
                <a:cs typeface="Verdana"/>
              </a:rPr>
              <a:t>The</a:t>
            </a:r>
            <a:r>
              <a:rPr sz="3250" spc="-254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dirty="0">
                <a:solidFill>
                  <a:srgbClr val="535353"/>
                </a:solidFill>
                <a:latin typeface="Verdana"/>
                <a:cs typeface="Verdana"/>
              </a:rPr>
              <a:t>car</a:t>
            </a:r>
            <a:r>
              <a:rPr sz="3250" spc="-254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65" dirty="0">
                <a:solidFill>
                  <a:srgbClr val="535353"/>
                </a:solidFill>
                <a:latin typeface="Verdana"/>
                <a:cs typeface="Verdana"/>
              </a:rPr>
              <a:t>can</a:t>
            </a:r>
            <a:r>
              <a:rPr sz="3250" spc="-254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dirty="0">
                <a:solidFill>
                  <a:srgbClr val="535353"/>
                </a:solidFill>
                <a:latin typeface="Verdana"/>
                <a:cs typeface="Verdana"/>
              </a:rPr>
              <a:t>move</a:t>
            </a:r>
            <a:r>
              <a:rPr sz="3250" spc="-254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-10" dirty="0">
                <a:solidFill>
                  <a:srgbClr val="535353"/>
                </a:solidFill>
                <a:latin typeface="Verdana"/>
                <a:cs typeface="Verdana"/>
              </a:rPr>
              <a:t>forward, </a:t>
            </a:r>
            <a:r>
              <a:rPr sz="3250" dirty="0">
                <a:solidFill>
                  <a:srgbClr val="535353"/>
                </a:solidFill>
                <a:latin typeface="Verdana"/>
                <a:cs typeface="Verdana"/>
              </a:rPr>
              <a:t>backward,</a:t>
            </a:r>
            <a:r>
              <a:rPr sz="3250" spc="-24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-80" dirty="0">
                <a:solidFill>
                  <a:srgbClr val="535353"/>
                </a:solidFill>
                <a:latin typeface="Verdana"/>
                <a:cs typeface="Verdana"/>
              </a:rPr>
              <a:t>left,</a:t>
            </a:r>
            <a:r>
              <a:rPr sz="3250" spc="-24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85" dirty="0">
                <a:solidFill>
                  <a:srgbClr val="535353"/>
                </a:solidFill>
                <a:latin typeface="Verdana"/>
                <a:cs typeface="Verdana"/>
              </a:rPr>
              <a:t>and</a:t>
            </a:r>
            <a:r>
              <a:rPr sz="3250" spc="-23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-10" dirty="0">
                <a:solidFill>
                  <a:srgbClr val="535353"/>
                </a:solidFill>
                <a:latin typeface="Verdana"/>
                <a:cs typeface="Verdana"/>
              </a:rPr>
              <a:t>right </a:t>
            </a:r>
            <a:r>
              <a:rPr sz="3250" spc="90" dirty="0">
                <a:solidFill>
                  <a:srgbClr val="535353"/>
                </a:solidFill>
                <a:latin typeface="Verdana"/>
                <a:cs typeface="Verdana"/>
              </a:rPr>
              <a:t>depending</a:t>
            </a:r>
            <a:r>
              <a:rPr sz="3250" spc="-26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75" dirty="0">
                <a:solidFill>
                  <a:srgbClr val="535353"/>
                </a:solidFill>
                <a:latin typeface="Verdana"/>
                <a:cs typeface="Verdana"/>
              </a:rPr>
              <a:t>on</a:t>
            </a:r>
            <a:r>
              <a:rPr sz="3250" spc="-26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-60" dirty="0">
                <a:solidFill>
                  <a:srgbClr val="535353"/>
                </a:solidFill>
                <a:latin typeface="Verdana"/>
                <a:cs typeface="Verdana"/>
              </a:rPr>
              <a:t>user</a:t>
            </a:r>
            <a:r>
              <a:rPr sz="3250" spc="-26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-10" dirty="0">
                <a:solidFill>
                  <a:srgbClr val="535353"/>
                </a:solidFill>
                <a:latin typeface="Verdana"/>
                <a:cs typeface="Verdana"/>
              </a:rPr>
              <a:t>input.</a:t>
            </a:r>
            <a:endParaRPr sz="32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130"/>
              </a:spcBef>
            </a:pPr>
            <a:endParaRPr sz="3250">
              <a:latin typeface="Verdana"/>
              <a:cs typeface="Verdana"/>
            </a:endParaRPr>
          </a:p>
          <a:p>
            <a:pPr marL="12700" marR="5080">
              <a:lnSpc>
                <a:spcPct val="117300"/>
              </a:lnSpc>
            </a:pPr>
            <a:r>
              <a:rPr sz="3250" spc="-35" dirty="0">
                <a:solidFill>
                  <a:srgbClr val="535353"/>
                </a:solidFill>
                <a:latin typeface="Verdana"/>
                <a:cs typeface="Verdana"/>
              </a:rPr>
              <a:t>This</a:t>
            </a:r>
            <a:r>
              <a:rPr sz="3250" spc="-23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dirty="0">
                <a:solidFill>
                  <a:srgbClr val="535353"/>
                </a:solidFill>
                <a:latin typeface="Verdana"/>
                <a:cs typeface="Verdana"/>
              </a:rPr>
              <a:t>project</a:t>
            </a:r>
            <a:r>
              <a:rPr sz="3250" spc="-23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-10" dirty="0">
                <a:solidFill>
                  <a:srgbClr val="535353"/>
                </a:solidFill>
                <a:latin typeface="Verdana"/>
                <a:cs typeface="Verdana"/>
              </a:rPr>
              <a:t>integrates</a:t>
            </a:r>
            <a:r>
              <a:rPr sz="3250" spc="-23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-10" dirty="0">
                <a:solidFill>
                  <a:srgbClr val="535353"/>
                </a:solidFill>
                <a:latin typeface="Verdana"/>
                <a:cs typeface="Verdana"/>
              </a:rPr>
              <a:t>basic </a:t>
            </a:r>
            <a:r>
              <a:rPr sz="3250" dirty="0">
                <a:solidFill>
                  <a:srgbClr val="535353"/>
                </a:solidFill>
                <a:latin typeface="Verdana"/>
                <a:cs typeface="Verdana"/>
              </a:rPr>
              <a:t>electronic</a:t>
            </a:r>
            <a:r>
              <a:rPr sz="3250" spc="-11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70" dirty="0">
                <a:solidFill>
                  <a:srgbClr val="535353"/>
                </a:solidFill>
                <a:latin typeface="Verdana"/>
                <a:cs typeface="Verdana"/>
              </a:rPr>
              <a:t>components</a:t>
            </a:r>
            <a:r>
              <a:rPr sz="3250" spc="-10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dirty="0">
                <a:solidFill>
                  <a:srgbClr val="535353"/>
                </a:solidFill>
                <a:latin typeface="Verdana"/>
                <a:cs typeface="Verdana"/>
              </a:rPr>
              <a:t>such</a:t>
            </a:r>
            <a:r>
              <a:rPr sz="3250" spc="-105" dirty="0">
                <a:solidFill>
                  <a:srgbClr val="535353"/>
                </a:solidFill>
                <a:latin typeface="Verdana"/>
                <a:cs typeface="Verdana"/>
              </a:rPr>
              <a:t> as </a:t>
            </a:r>
            <a:r>
              <a:rPr sz="3250" spc="-25" dirty="0">
                <a:solidFill>
                  <a:srgbClr val="535353"/>
                </a:solidFill>
                <a:latin typeface="Verdana"/>
                <a:cs typeface="Verdana"/>
              </a:rPr>
              <a:t>DC </a:t>
            </a:r>
            <a:r>
              <a:rPr sz="3250" spc="-60" dirty="0">
                <a:solidFill>
                  <a:srgbClr val="535353"/>
                </a:solidFill>
                <a:latin typeface="Verdana"/>
                <a:cs typeface="Verdana"/>
              </a:rPr>
              <a:t>motors,</a:t>
            </a:r>
            <a:r>
              <a:rPr sz="3250" spc="-23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-60" dirty="0">
                <a:solidFill>
                  <a:srgbClr val="535353"/>
                </a:solidFill>
                <a:latin typeface="Verdana"/>
                <a:cs typeface="Verdana"/>
              </a:rPr>
              <a:t>batteries,</a:t>
            </a:r>
            <a:r>
              <a:rPr sz="3250" spc="-23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85" dirty="0">
                <a:solidFill>
                  <a:srgbClr val="535353"/>
                </a:solidFill>
                <a:latin typeface="Verdana"/>
                <a:cs typeface="Verdana"/>
              </a:rPr>
              <a:t>and</a:t>
            </a:r>
            <a:r>
              <a:rPr sz="3250" spc="-23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dirty="0">
                <a:solidFill>
                  <a:srgbClr val="535353"/>
                </a:solidFill>
                <a:latin typeface="Verdana"/>
                <a:cs typeface="Verdana"/>
              </a:rPr>
              <a:t>an</a:t>
            </a:r>
            <a:r>
              <a:rPr sz="3250" spc="-23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-25" dirty="0">
                <a:solidFill>
                  <a:srgbClr val="535353"/>
                </a:solidFill>
                <a:latin typeface="Verdana"/>
                <a:cs typeface="Verdana"/>
              </a:rPr>
              <a:t>RF </a:t>
            </a:r>
            <a:r>
              <a:rPr sz="3250" spc="-60" dirty="0">
                <a:solidFill>
                  <a:srgbClr val="535353"/>
                </a:solidFill>
                <a:latin typeface="Verdana"/>
                <a:cs typeface="Verdana"/>
              </a:rPr>
              <a:t>transmitter–receiver</a:t>
            </a:r>
            <a:r>
              <a:rPr sz="3250" spc="-12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-10" dirty="0">
                <a:solidFill>
                  <a:srgbClr val="535353"/>
                </a:solidFill>
                <a:latin typeface="Verdana"/>
                <a:cs typeface="Verdana"/>
              </a:rPr>
              <a:t>pair.</a:t>
            </a:r>
            <a:endParaRPr sz="325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sp>
        <p:nvSpPr>
          <p:cNvPr id="6" name="object 6"/>
          <p:cNvSpPr txBox="1"/>
          <p:nvPr/>
        </p:nvSpPr>
        <p:spPr>
          <a:xfrm>
            <a:off x="10081616" y="3656482"/>
            <a:ext cx="7092950" cy="49053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9060" marR="5080">
              <a:lnSpc>
                <a:spcPct val="117300"/>
              </a:lnSpc>
              <a:spcBef>
                <a:spcPts val="95"/>
              </a:spcBef>
            </a:pPr>
            <a:r>
              <a:rPr sz="3250" spc="-10" dirty="0">
                <a:solidFill>
                  <a:srgbClr val="535353"/>
                </a:solidFill>
                <a:latin typeface="Verdana"/>
                <a:cs typeface="Verdana"/>
              </a:rPr>
              <a:t>The</a:t>
            </a:r>
            <a:r>
              <a:rPr sz="3250" spc="-10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dirty="0">
                <a:solidFill>
                  <a:srgbClr val="535353"/>
                </a:solidFill>
                <a:latin typeface="Verdana"/>
                <a:cs typeface="Verdana"/>
              </a:rPr>
              <a:t>microcontroller</a:t>
            </a:r>
            <a:r>
              <a:rPr sz="3250" spc="-10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-35" dirty="0">
                <a:solidFill>
                  <a:srgbClr val="535353"/>
                </a:solidFill>
                <a:latin typeface="Verdana"/>
                <a:cs typeface="Verdana"/>
              </a:rPr>
              <a:t>or</a:t>
            </a:r>
            <a:r>
              <a:rPr sz="3250" spc="-10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60" dirty="0">
                <a:solidFill>
                  <a:srgbClr val="535353"/>
                </a:solidFill>
                <a:latin typeface="Verdana"/>
                <a:cs typeface="Verdana"/>
              </a:rPr>
              <a:t>decoder</a:t>
            </a:r>
            <a:r>
              <a:rPr sz="3250" spc="-10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-45" dirty="0">
                <a:solidFill>
                  <a:srgbClr val="535353"/>
                </a:solidFill>
                <a:latin typeface="Verdana"/>
                <a:cs typeface="Verdana"/>
              </a:rPr>
              <a:t>IC </a:t>
            </a:r>
            <a:r>
              <a:rPr sz="3250" spc="-35" dirty="0">
                <a:solidFill>
                  <a:srgbClr val="535353"/>
                </a:solidFill>
                <a:latin typeface="Verdana"/>
                <a:cs typeface="Verdana"/>
              </a:rPr>
              <a:t>processes</a:t>
            </a:r>
            <a:r>
              <a:rPr sz="3250" spc="-19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dirty="0">
                <a:solidFill>
                  <a:srgbClr val="535353"/>
                </a:solidFill>
                <a:latin typeface="Verdana"/>
                <a:cs typeface="Verdana"/>
              </a:rPr>
              <a:t>the</a:t>
            </a:r>
            <a:r>
              <a:rPr sz="3250" spc="-18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-10" dirty="0">
                <a:solidFill>
                  <a:srgbClr val="535353"/>
                </a:solidFill>
                <a:latin typeface="Verdana"/>
                <a:cs typeface="Verdana"/>
              </a:rPr>
              <a:t>received</a:t>
            </a:r>
            <a:r>
              <a:rPr sz="3250" spc="-18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-20" dirty="0">
                <a:solidFill>
                  <a:srgbClr val="535353"/>
                </a:solidFill>
                <a:latin typeface="Verdana"/>
                <a:cs typeface="Verdana"/>
              </a:rPr>
              <a:t>signals</a:t>
            </a:r>
            <a:r>
              <a:rPr sz="3250" spc="-18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25" dirty="0">
                <a:solidFill>
                  <a:srgbClr val="535353"/>
                </a:solidFill>
                <a:latin typeface="Verdana"/>
                <a:cs typeface="Verdana"/>
              </a:rPr>
              <a:t>to </a:t>
            </a:r>
            <a:r>
              <a:rPr sz="3250" spc="-10" dirty="0">
                <a:solidFill>
                  <a:srgbClr val="535353"/>
                </a:solidFill>
                <a:latin typeface="Verdana"/>
                <a:cs typeface="Verdana"/>
              </a:rPr>
              <a:t>generate</a:t>
            </a:r>
            <a:r>
              <a:rPr sz="3250" spc="-24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50" dirty="0">
                <a:solidFill>
                  <a:srgbClr val="535353"/>
                </a:solidFill>
                <a:latin typeface="Verdana"/>
                <a:cs typeface="Verdana"/>
              </a:rPr>
              <a:t>control</a:t>
            </a:r>
            <a:r>
              <a:rPr sz="3250" spc="-23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-10" dirty="0">
                <a:solidFill>
                  <a:srgbClr val="535353"/>
                </a:solidFill>
                <a:latin typeface="Verdana"/>
                <a:cs typeface="Verdana"/>
              </a:rPr>
              <a:t>outputs.</a:t>
            </a:r>
            <a:endParaRPr sz="32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445"/>
              </a:spcBef>
            </a:pPr>
            <a:endParaRPr sz="3250">
              <a:latin typeface="Verdana"/>
              <a:cs typeface="Verdana"/>
            </a:endParaRPr>
          </a:p>
          <a:p>
            <a:pPr marL="12700" marR="208279">
              <a:lnSpc>
                <a:spcPct val="117300"/>
              </a:lnSpc>
            </a:pPr>
            <a:r>
              <a:rPr sz="3250" spc="-10" dirty="0">
                <a:solidFill>
                  <a:srgbClr val="535353"/>
                </a:solidFill>
                <a:latin typeface="Verdana"/>
                <a:cs typeface="Verdana"/>
              </a:rPr>
              <a:t>The</a:t>
            </a:r>
            <a:r>
              <a:rPr sz="3250" spc="-23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dirty="0">
                <a:solidFill>
                  <a:srgbClr val="535353"/>
                </a:solidFill>
                <a:latin typeface="Verdana"/>
                <a:cs typeface="Verdana"/>
              </a:rPr>
              <a:t>RF</a:t>
            </a:r>
            <a:r>
              <a:rPr sz="3250" spc="-23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-50" dirty="0">
                <a:solidFill>
                  <a:srgbClr val="535353"/>
                </a:solidFill>
                <a:latin typeface="Verdana"/>
                <a:cs typeface="Verdana"/>
              </a:rPr>
              <a:t>system</a:t>
            </a:r>
            <a:r>
              <a:rPr sz="3250" spc="-23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-10" dirty="0">
                <a:solidFill>
                  <a:srgbClr val="535353"/>
                </a:solidFill>
                <a:latin typeface="Verdana"/>
                <a:cs typeface="Verdana"/>
              </a:rPr>
              <a:t>provides</a:t>
            </a:r>
            <a:r>
              <a:rPr sz="3250" spc="-229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-40" dirty="0">
                <a:solidFill>
                  <a:srgbClr val="535353"/>
                </a:solidFill>
                <a:latin typeface="Verdana"/>
                <a:cs typeface="Verdana"/>
              </a:rPr>
              <a:t>a</a:t>
            </a:r>
            <a:r>
              <a:rPr sz="3250" spc="-23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-10" dirty="0">
                <a:solidFill>
                  <a:srgbClr val="535353"/>
                </a:solidFill>
                <a:latin typeface="Verdana"/>
                <a:cs typeface="Verdana"/>
              </a:rPr>
              <a:t>reliable </a:t>
            </a:r>
            <a:r>
              <a:rPr sz="3250" spc="85" dirty="0">
                <a:solidFill>
                  <a:srgbClr val="535353"/>
                </a:solidFill>
                <a:latin typeface="Verdana"/>
                <a:cs typeface="Verdana"/>
              </a:rPr>
              <a:t>communication</a:t>
            </a:r>
            <a:r>
              <a:rPr sz="3250" spc="-24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55" dirty="0">
                <a:solidFill>
                  <a:srgbClr val="535353"/>
                </a:solidFill>
                <a:latin typeface="Verdana"/>
                <a:cs typeface="Verdana"/>
              </a:rPr>
              <a:t>link</a:t>
            </a:r>
            <a:r>
              <a:rPr sz="3250" spc="-24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-10" dirty="0">
                <a:solidFill>
                  <a:srgbClr val="535353"/>
                </a:solidFill>
                <a:latin typeface="Verdana"/>
                <a:cs typeface="Verdana"/>
              </a:rPr>
              <a:t>for</a:t>
            </a:r>
            <a:r>
              <a:rPr sz="3250" spc="-24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-10" dirty="0">
                <a:solidFill>
                  <a:srgbClr val="535353"/>
                </a:solidFill>
                <a:latin typeface="Verdana"/>
                <a:cs typeface="Verdana"/>
              </a:rPr>
              <a:t>short </a:t>
            </a:r>
            <a:r>
              <a:rPr sz="3250" spc="-40" dirty="0">
                <a:solidFill>
                  <a:srgbClr val="535353"/>
                </a:solidFill>
                <a:latin typeface="Verdana"/>
                <a:cs typeface="Verdana"/>
              </a:rPr>
              <a:t>distances,</a:t>
            </a:r>
            <a:r>
              <a:rPr sz="3250" spc="-215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dirty="0">
                <a:solidFill>
                  <a:srgbClr val="535353"/>
                </a:solidFill>
                <a:latin typeface="Verdana"/>
                <a:cs typeface="Verdana"/>
              </a:rPr>
              <a:t>typically</a:t>
            </a:r>
            <a:r>
              <a:rPr sz="3250" spc="-21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95" dirty="0">
                <a:solidFill>
                  <a:srgbClr val="535353"/>
                </a:solidFill>
                <a:latin typeface="Verdana"/>
                <a:cs typeface="Verdana"/>
              </a:rPr>
              <a:t>within</a:t>
            </a:r>
            <a:r>
              <a:rPr sz="3250" spc="-210" dirty="0">
                <a:solidFill>
                  <a:srgbClr val="535353"/>
                </a:solidFill>
                <a:latin typeface="Verdana"/>
                <a:cs typeface="Verdana"/>
              </a:rPr>
              <a:t> </a:t>
            </a:r>
            <a:r>
              <a:rPr sz="3250" spc="-10" dirty="0">
                <a:solidFill>
                  <a:srgbClr val="535353"/>
                </a:solidFill>
                <a:latin typeface="Verdana"/>
                <a:cs typeface="Verdana"/>
              </a:rPr>
              <a:t>30–50 meters.</a:t>
            </a:r>
            <a:endParaRPr sz="3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8E8E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8069" y="2249469"/>
            <a:ext cx="115327" cy="11532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8069" y="2746266"/>
            <a:ext cx="115327" cy="11532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8069" y="3739860"/>
            <a:ext cx="115327" cy="11532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8069" y="4733454"/>
            <a:ext cx="115327" cy="11532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8069" y="5727048"/>
            <a:ext cx="115327" cy="11532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8069" y="6223846"/>
            <a:ext cx="115327" cy="11532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8069" y="7217440"/>
            <a:ext cx="115327" cy="11532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619253" y="1979498"/>
            <a:ext cx="15309850" cy="5987415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2800" spc="-75" dirty="0">
                <a:latin typeface="Verdana"/>
                <a:cs typeface="Verdana"/>
              </a:rPr>
              <a:t>The</a:t>
            </a:r>
            <a:r>
              <a:rPr sz="2800" spc="-11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design</a:t>
            </a:r>
            <a:r>
              <a:rPr sz="2800" spc="-10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emphasizes</a:t>
            </a:r>
            <a:r>
              <a:rPr sz="2800" spc="-105" dirty="0">
                <a:latin typeface="Verdana"/>
                <a:cs typeface="Verdana"/>
              </a:rPr>
              <a:t> </a:t>
            </a:r>
            <a:r>
              <a:rPr sz="2800" spc="80" dirty="0">
                <a:latin typeface="Verdana"/>
                <a:cs typeface="Verdana"/>
              </a:rPr>
              <a:t>low</a:t>
            </a:r>
            <a:r>
              <a:rPr sz="2800" spc="-10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power</a:t>
            </a:r>
            <a:r>
              <a:rPr sz="2800" spc="-10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consumption</a:t>
            </a:r>
            <a:r>
              <a:rPr sz="2800" spc="-105" dirty="0">
                <a:latin typeface="Verdana"/>
                <a:cs typeface="Verdana"/>
              </a:rPr>
              <a:t> </a:t>
            </a:r>
            <a:r>
              <a:rPr sz="2800" spc="50" dirty="0">
                <a:latin typeface="Verdana"/>
                <a:cs typeface="Verdana"/>
              </a:rPr>
              <a:t>and</a:t>
            </a:r>
            <a:r>
              <a:rPr sz="2800" spc="-10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simple</a:t>
            </a:r>
            <a:r>
              <a:rPr sz="2800" spc="-11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circuitry.</a:t>
            </a:r>
            <a:endParaRPr sz="2800">
              <a:latin typeface="Verdana"/>
              <a:cs typeface="Verdana"/>
            </a:endParaRPr>
          </a:p>
          <a:p>
            <a:pPr marL="12700" marR="981075">
              <a:lnSpc>
                <a:spcPct val="116399"/>
              </a:lnSpc>
            </a:pPr>
            <a:r>
              <a:rPr sz="2800" spc="-75" dirty="0">
                <a:latin typeface="Verdana"/>
                <a:cs typeface="Verdana"/>
              </a:rPr>
              <a:t>The</a:t>
            </a:r>
            <a:r>
              <a:rPr sz="2800" spc="-180" dirty="0">
                <a:latin typeface="Verdana"/>
                <a:cs typeface="Verdana"/>
              </a:rPr>
              <a:t> </a:t>
            </a:r>
            <a:r>
              <a:rPr sz="2800" spc="-95" dirty="0">
                <a:latin typeface="Verdana"/>
                <a:cs typeface="Verdana"/>
              </a:rPr>
              <a:t>system’s</a:t>
            </a:r>
            <a:r>
              <a:rPr sz="2800" spc="-180" dirty="0">
                <a:latin typeface="Verdana"/>
                <a:cs typeface="Verdana"/>
              </a:rPr>
              <a:t> </a:t>
            </a:r>
            <a:r>
              <a:rPr sz="2800" spc="-35" dirty="0">
                <a:latin typeface="Verdana"/>
                <a:cs typeface="Verdana"/>
              </a:rPr>
              <a:t>response</a:t>
            </a:r>
            <a:r>
              <a:rPr sz="2800" spc="-180" dirty="0">
                <a:latin typeface="Verdana"/>
                <a:cs typeface="Verdana"/>
              </a:rPr>
              <a:t> </a:t>
            </a:r>
            <a:r>
              <a:rPr sz="2800" spc="-75" dirty="0">
                <a:latin typeface="Verdana"/>
                <a:cs typeface="Verdana"/>
              </a:rPr>
              <a:t>is</a:t>
            </a:r>
            <a:r>
              <a:rPr sz="2800" spc="-180" dirty="0">
                <a:latin typeface="Verdana"/>
                <a:cs typeface="Verdana"/>
              </a:rPr>
              <a:t> </a:t>
            </a:r>
            <a:r>
              <a:rPr sz="2800" spc="60" dirty="0">
                <a:latin typeface="Verdana"/>
                <a:cs typeface="Verdana"/>
              </a:rPr>
              <a:t>quick</a:t>
            </a:r>
            <a:r>
              <a:rPr sz="2800" spc="-18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due</a:t>
            </a:r>
            <a:r>
              <a:rPr sz="2800" spc="-18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to</a:t>
            </a:r>
            <a:r>
              <a:rPr sz="2800" spc="-18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direct</a:t>
            </a:r>
            <a:r>
              <a:rPr sz="2800" spc="-18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signal</a:t>
            </a:r>
            <a:r>
              <a:rPr sz="2800" spc="-180" dirty="0">
                <a:latin typeface="Verdana"/>
                <a:cs typeface="Verdana"/>
              </a:rPr>
              <a:t> </a:t>
            </a:r>
            <a:r>
              <a:rPr sz="2800" spc="-30" dirty="0">
                <a:latin typeface="Verdana"/>
                <a:cs typeface="Verdana"/>
              </a:rPr>
              <a:t>transmission</a:t>
            </a:r>
            <a:r>
              <a:rPr sz="2800" spc="-180" dirty="0">
                <a:latin typeface="Verdana"/>
                <a:cs typeface="Verdana"/>
              </a:rPr>
              <a:t> </a:t>
            </a:r>
            <a:r>
              <a:rPr sz="2800" spc="65" dirty="0">
                <a:latin typeface="Verdana"/>
                <a:cs typeface="Verdana"/>
              </a:rPr>
              <a:t>without</a:t>
            </a:r>
            <a:r>
              <a:rPr sz="2800" spc="-18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complex protocols.</a:t>
            </a:r>
            <a:endParaRPr sz="2800">
              <a:latin typeface="Verdana"/>
              <a:cs typeface="Verdana"/>
            </a:endParaRPr>
          </a:p>
          <a:p>
            <a:pPr marL="12700" marR="220345">
              <a:lnSpc>
                <a:spcPct val="116399"/>
              </a:lnSpc>
              <a:spcBef>
                <a:spcPts val="5"/>
              </a:spcBef>
            </a:pPr>
            <a:r>
              <a:rPr sz="2800" spc="-90" dirty="0">
                <a:latin typeface="Verdana"/>
                <a:cs typeface="Verdana"/>
              </a:rPr>
              <a:t>However,</a:t>
            </a:r>
            <a:r>
              <a:rPr sz="2800" spc="-18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it</a:t>
            </a:r>
            <a:r>
              <a:rPr sz="2800" spc="-175" dirty="0">
                <a:latin typeface="Verdana"/>
                <a:cs typeface="Verdana"/>
              </a:rPr>
              <a:t> </a:t>
            </a:r>
            <a:r>
              <a:rPr sz="2800" spc="-75" dirty="0">
                <a:latin typeface="Verdana"/>
                <a:cs typeface="Verdana"/>
              </a:rPr>
              <a:t>is</a:t>
            </a:r>
            <a:r>
              <a:rPr sz="2800" spc="-17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susceptible</a:t>
            </a:r>
            <a:r>
              <a:rPr sz="2800" spc="-18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to</a:t>
            </a:r>
            <a:r>
              <a:rPr sz="2800" spc="-175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interference</a:t>
            </a:r>
            <a:r>
              <a:rPr sz="2800" spc="-17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from</a:t>
            </a:r>
            <a:r>
              <a:rPr sz="2800" spc="-17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other</a:t>
            </a:r>
            <a:r>
              <a:rPr sz="2800" spc="-18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RF</a:t>
            </a:r>
            <a:r>
              <a:rPr sz="2800" spc="-175" dirty="0">
                <a:latin typeface="Verdana"/>
                <a:cs typeface="Verdana"/>
              </a:rPr>
              <a:t> </a:t>
            </a:r>
            <a:r>
              <a:rPr sz="2800" spc="-45" dirty="0">
                <a:latin typeface="Verdana"/>
                <a:cs typeface="Verdana"/>
              </a:rPr>
              <a:t>devices</a:t>
            </a:r>
            <a:r>
              <a:rPr sz="2800" spc="-17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operating</a:t>
            </a:r>
            <a:r>
              <a:rPr sz="2800" spc="-17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at</a:t>
            </a:r>
            <a:r>
              <a:rPr sz="2800" spc="-18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the</a:t>
            </a:r>
            <a:r>
              <a:rPr sz="2800" spc="-175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same </a:t>
            </a:r>
            <a:r>
              <a:rPr sz="2800" spc="-10" dirty="0">
                <a:latin typeface="Verdana"/>
                <a:cs typeface="Verdana"/>
              </a:rPr>
              <a:t>frequency.</a:t>
            </a:r>
            <a:endParaRPr sz="2800">
              <a:latin typeface="Verdana"/>
              <a:cs typeface="Verdana"/>
            </a:endParaRPr>
          </a:p>
          <a:p>
            <a:pPr marL="12700" marR="5080">
              <a:lnSpc>
                <a:spcPct val="116399"/>
              </a:lnSpc>
            </a:pPr>
            <a:r>
              <a:rPr sz="2800" spc="-75" dirty="0">
                <a:latin typeface="Verdana"/>
                <a:cs typeface="Verdana"/>
              </a:rPr>
              <a:t>The</a:t>
            </a:r>
            <a:r>
              <a:rPr sz="2800" spc="-17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project</a:t>
            </a:r>
            <a:r>
              <a:rPr sz="2800" spc="-17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enhances</a:t>
            </a:r>
            <a:r>
              <a:rPr sz="2800" spc="-16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understanding</a:t>
            </a:r>
            <a:r>
              <a:rPr sz="2800" spc="-17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of</a:t>
            </a:r>
            <a:r>
              <a:rPr sz="2800" spc="-17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signal</a:t>
            </a:r>
            <a:r>
              <a:rPr sz="2800" spc="-165" dirty="0">
                <a:latin typeface="Verdana"/>
                <a:cs typeface="Verdana"/>
              </a:rPr>
              <a:t> </a:t>
            </a:r>
            <a:r>
              <a:rPr sz="2800" spc="-60" dirty="0">
                <a:latin typeface="Verdana"/>
                <a:cs typeface="Verdana"/>
              </a:rPr>
              <a:t>transmission,</a:t>
            </a:r>
            <a:r>
              <a:rPr sz="2800" spc="-17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modulation,</a:t>
            </a:r>
            <a:r>
              <a:rPr sz="2800" spc="-165" dirty="0">
                <a:latin typeface="Verdana"/>
                <a:cs typeface="Verdana"/>
              </a:rPr>
              <a:t> </a:t>
            </a:r>
            <a:r>
              <a:rPr sz="2800" spc="50" dirty="0">
                <a:latin typeface="Verdana"/>
                <a:cs typeface="Verdana"/>
              </a:rPr>
              <a:t>and</a:t>
            </a:r>
            <a:r>
              <a:rPr sz="2800" spc="-170" dirty="0">
                <a:latin typeface="Verdana"/>
                <a:cs typeface="Verdana"/>
              </a:rPr>
              <a:t> </a:t>
            </a:r>
            <a:r>
              <a:rPr sz="2800" spc="35" dirty="0">
                <a:latin typeface="Verdana"/>
                <a:cs typeface="Verdana"/>
              </a:rPr>
              <a:t>decoding </a:t>
            </a:r>
            <a:r>
              <a:rPr sz="2800" spc="-10" dirty="0">
                <a:latin typeface="Verdana"/>
                <a:cs typeface="Verdana"/>
              </a:rPr>
              <a:t>concepts.</a:t>
            </a:r>
            <a:endParaRPr sz="2800">
              <a:latin typeface="Verdana"/>
              <a:cs typeface="Verdana"/>
            </a:endParaRPr>
          </a:p>
          <a:p>
            <a:pPr marL="12700" marR="335915">
              <a:lnSpc>
                <a:spcPct val="116399"/>
              </a:lnSpc>
            </a:pPr>
            <a:r>
              <a:rPr sz="2800" spc="-155" dirty="0">
                <a:latin typeface="Verdana"/>
                <a:cs typeface="Verdana"/>
              </a:rPr>
              <a:t>It</a:t>
            </a:r>
            <a:r>
              <a:rPr sz="2800" spc="-185" dirty="0">
                <a:latin typeface="Verdana"/>
                <a:cs typeface="Verdana"/>
              </a:rPr>
              <a:t> </a:t>
            </a:r>
            <a:r>
              <a:rPr sz="2800" spc="-30" dirty="0">
                <a:latin typeface="Verdana"/>
                <a:cs typeface="Verdana"/>
              </a:rPr>
              <a:t>also</a:t>
            </a:r>
            <a:r>
              <a:rPr sz="2800" spc="-180" dirty="0">
                <a:latin typeface="Verdana"/>
                <a:cs typeface="Verdana"/>
              </a:rPr>
              <a:t> </a:t>
            </a:r>
            <a:r>
              <a:rPr sz="2800" spc="-35" dirty="0">
                <a:latin typeface="Verdana"/>
                <a:cs typeface="Verdana"/>
              </a:rPr>
              <a:t>provides</a:t>
            </a:r>
            <a:r>
              <a:rPr sz="2800" spc="-185" dirty="0">
                <a:latin typeface="Verdana"/>
                <a:cs typeface="Verdana"/>
              </a:rPr>
              <a:t> </a:t>
            </a:r>
            <a:r>
              <a:rPr sz="2800" spc="-35" dirty="0">
                <a:latin typeface="Verdana"/>
                <a:cs typeface="Verdana"/>
              </a:rPr>
              <a:t>hands-</a:t>
            </a:r>
            <a:r>
              <a:rPr sz="2800" spc="50" dirty="0">
                <a:latin typeface="Verdana"/>
                <a:cs typeface="Verdana"/>
              </a:rPr>
              <a:t>on</a:t>
            </a:r>
            <a:r>
              <a:rPr sz="2800" spc="-180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experience</a:t>
            </a:r>
            <a:r>
              <a:rPr sz="2800" spc="-185" dirty="0">
                <a:latin typeface="Verdana"/>
                <a:cs typeface="Verdana"/>
              </a:rPr>
              <a:t> </a:t>
            </a:r>
            <a:r>
              <a:rPr sz="2800" spc="50" dirty="0">
                <a:latin typeface="Verdana"/>
                <a:cs typeface="Verdana"/>
              </a:rPr>
              <a:t>in</a:t>
            </a:r>
            <a:r>
              <a:rPr sz="2800" spc="-18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motor</a:t>
            </a:r>
            <a:r>
              <a:rPr sz="2800" spc="-18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control</a:t>
            </a:r>
            <a:r>
              <a:rPr sz="2800" spc="-185" dirty="0">
                <a:latin typeface="Verdana"/>
                <a:cs typeface="Verdana"/>
              </a:rPr>
              <a:t> </a:t>
            </a:r>
            <a:r>
              <a:rPr sz="2800" spc="50" dirty="0">
                <a:latin typeface="Verdana"/>
                <a:cs typeface="Verdana"/>
              </a:rPr>
              <a:t>and</a:t>
            </a:r>
            <a:r>
              <a:rPr sz="2800" spc="-180" dirty="0">
                <a:latin typeface="Verdana"/>
                <a:cs typeface="Verdana"/>
              </a:rPr>
              <a:t> </a:t>
            </a:r>
            <a:r>
              <a:rPr sz="2800" spc="75" dirty="0">
                <a:latin typeface="Verdana"/>
                <a:cs typeface="Verdana"/>
              </a:rPr>
              <a:t>embedded</a:t>
            </a:r>
            <a:r>
              <a:rPr sz="2800" spc="-185" dirty="0">
                <a:latin typeface="Verdana"/>
                <a:cs typeface="Verdana"/>
              </a:rPr>
              <a:t> </a:t>
            </a:r>
            <a:r>
              <a:rPr sz="2800" spc="-70" dirty="0">
                <a:latin typeface="Verdana"/>
                <a:cs typeface="Verdana"/>
              </a:rPr>
              <a:t>system</a:t>
            </a:r>
            <a:r>
              <a:rPr sz="2800" spc="-18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design. </a:t>
            </a:r>
            <a:r>
              <a:rPr sz="2800" dirty="0">
                <a:latin typeface="Verdana"/>
                <a:cs typeface="Verdana"/>
              </a:rPr>
              <a:t>Limitations</a:t>
            </a:r>
            <a:r>
              <a:rPr sz="2800" spc="-155" dirty="0">
                <a:latin typeface="Verdana"/>
                <a:cs typeface="Verdana"/>
              </a:rPr>
              <a:t> </a:t>
            </a:r>
            <a:r>
              <a:rPr sz="2800" spc="55" dirty="0">
                <a:latin typeface="Verdana"/>
                <a:cs typeface="Verdana"/>
              </a:rPr>
              <a:t>include</a:t>
            </a:r>
            <a:r>
              <a:rPr sz="2800" spc="-155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restricted</a:t>
            </a:r>
            <a:r>
              <a:rPr sz="2800" spc="-150" dirty="0">
                <a:latin typeface="Verdana"/>
                <a:cs typeface="Verdana"/>
              </a:rPr>
              <a:t> </a:t>
            </a:r>
            <a:r>
              <a:rPr sz="2800" spc="-35" dirty="0">
                <a:latin typeface="Verdana"/>
                <a:cs typeface="Verdana"/>
              </a:rPr>
              <a:t>range</a:t>
            </a:r>
            <a:r>
              <a:rPr sz="2800" spc="-155" dirty="0">
                <a:latin typeface="Verdana"/>
                <a:cs typeface="Verdana"/>
              </a:rPr>
              <a:t> </a:t>
            </a:r>
            <a:r>
              <a:rPr sz="2800" spc="50" dirty="0">
                <a:latin typeface="Verdana"/>
                <a:cs typeface="Verdana"/>
              </a:rPr>
              <a:t>and</a:t>
            </a:r>
            <a:r>
              <a:rPr sz="2800" spc="-15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lack</a:t>
            </a:r>
            <a:r>
              <a:rPr sz="2800" spc="-15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of</a:t>
            </a:r>
            <a:r>
              <a:rPr sz="2800" spc="-15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feedback</a:t>
            </a:r>
            <a:r>
              <a:rPr sz="2800" spc="-15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from</a:t>
            </a:r>
            <a:r>
              <a:rPr sz="2800" spc="-15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the</a:t>
            </a:r>
            <a:r>
              <a:rPr sz="2800" spc="-15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vehicle</a:t>
            </a:r>
            <a:r>
              <a:rPr sz="2800" spc="-15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to</a:t>
            </a:r>
            <a:r>
              <a:rPr sz="2800" spc="-155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the </a:t>
            </a:r>
            <a:r>
              <a:rPr sz="2800" spc="-10" dirty="0">
                <a:latin typeface="Verdana"/>
                <a:cs typeface="Verdana"/>
              </a:rPr>
              <a:t>controller.</a:t>
            </a:r>
            <a:endParaRPr sz="2800">
              <a:latin typeface="Verdana"/>
              <a:cs typeface="Verdana"/>
            </a:endParaRPr>
          </a:p>
          <a:p>
            <a:pPr marL="12700" marR="130810">
              <a:lnSpc>
                <a:spcPct val="116399"/>
              </a:lnSpc>
            </a:pPr>
            <a:r>
              <a:rPr sz="2800" spc="-40" dirty="0">
                <a:latin typeface="Verdana"/>
                <a:cs typeface="Verdana"/>
              </a:rPr>
              <a:t>Improvements</a:t>
            </a:r>
            <a:r>
              <a:rPr sz="2800" spc="-16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can</a:t>
            </a:r>
            <a:r>
              <a:rPr sz="2800" spc="-155" dirty="0">
                <a:latin typeface="Verdana"/>
                <a:cs typeface="Verdana"/>
              </a:rPr>
              <a:t> </a:t>
            </a:r>
            <a:r>
              <a:rPr sz="2800" spc="55" dirty="0">
                <a:latin typeface="Verdana"/>
                <a:cs typeface="Verdana"/>
              </a:rPr>
              <a:t>include</a:t>
            </a:r>
            <a:r>
              <a:rPr sz="2800" spc="-15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obstacle</a:t>
            </a:r>
            <a:r>
              <a:rPr sz="2800" spc="-15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detection,</a:t>
            </a:r>
            <a:r>
              <a:rPr sz="2800" spc="-16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Bluetooth</a:t>
            </a:r>
            <a:r>
              <a:rPr sz="2800" spc="-155" dirty="0">
                <a:latin typeface="Verdana"/>
                <a:cs typeface="Verdana"/>
              </a:rPr>
              <a:t> </a:t>
            </a:r>
            <a:r>
              <a:rPr sz="2800" spc="-30" dirty="0">
                <a:latin typeface="Verdana"/>
                <a:cs typeface="Verdana"/>
              </a:rPr>
              <a:t>or</a:t>
            </a:r>
            <a:r>
              <a:rPr sz="2800" spc="-155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Wi-</a:t>
            </a:r>
            <a:r>
              <a:rPr sz="2800" dirty="0">
                <a:latin typeface="Verdana"/>
                <a:cs typeface="Verdana"/>
              </a:rPr>
              <a:t>Fi</a:t>
            </a:r>
            <a:r>
              <a:rPr sz="2800" spc="-155" dirty="0">
                <a:latin typeface="Verdana"/>
                <a:cs typeface="Verdana"/>
              </a:rPr>
              <a:t> </a:t>
            </a:r>
            <a:r>
              <a:rPr sz="2800" spc="-35" dirty="0">
                <a:latin typeface="Verdana"/>
                <a:cs typeface="Verdana"/>
              </a:rPr>
              <a:t>control,</a:t>
            </a:r>
            <a:r>
              <a:rPr sz="2800" spc="-155" dirty="0">
                <a:latin typeface="Verdana"/>
                <a:cs typeface="Verdana"/>
              </a:rPr>
              <a:t> </a:t>
            </a:r>
            <a:r>
              <a:rPr sz="2800" spc="50" dirty="0">
                <a:latin typeface="Verdana"/>
                <a:cs typeface="Verdana"/>
              </a:rPr>
              <a:t>and</a:t>
            </a:r>
            <a:r>
              <a:rPr sz="2800" spc="-16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camera integration.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6273575" y="780477"/>
            <a:ext cx="5741035" cy="1271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200" dirty="0"/>
              <a:t>SUBJECT</a:t>
            </a:r>
            <a:r>
              <a:rPr spc="-185" dirty="0"/>
              <a:t> </a:t>
            </a:r>
            <a:r>
              <a:rPr spc="-310" dirty="0"/>
              <a:t>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8E8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97659" y="339153"/>
            <a:ext cx="4998085" cy="12725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05" dirty="0"/>
              <a:t>Subject</a:t>
            </a:r>
            <a:r>
              <a:rPr spc="-165" dirty="0"/>
              <a:t> </a:t>
            </a:r>
            <a:r>
              <a:rPr spc="-310" dirty="0"/>
              <a:t>4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9841" y="2295525"/>
            <a:ext cx="142875" cy="1428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9841" y="3533775"/>
            <a:ext cx="142875" cy="1428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9841" y="4772025"/>
            <a:ext cx="142875" cy="1428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9841" y="6010274"/>
            <a:ext cx="142875" cy="1428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9841" y="7248524"/>
            <a:ext cx="142875" cy="142874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95"/>
              </a:spcBef>
              <a:tabLst>
                <a:tab pos="1152525" algn="l"/>
                <a:tab pos="3750945" algn="l"/>
                <a:tab pos="5511800" algn="l"/>
                <a:tab pos="6324600" algn="l"/>
                <a:tab pos="6907530" algn="l"/>
                <a:tab pos="9761855" algn="l"/>
                <a:tab pos="10724515" algn="l"/>
                <a:tab pos="13580744" algn="l"/>
                <a:tab pos="15100300" algn="l"/>
              </a:tabLst>
            </a:pPr>
            <a:r>
              <a:rPr spc="-25" dirty="0"/>
              <a:t>The</a:t>
            </a:r>
            <a:r>
              <a:rPr dirty="0"/>
              <a:t>	</a:t>
            </a:r>
            <a:r>
              <a:rPr spc="60" dirty="0"/>
              <a:t>prototype</a:t>
            </a:r>
            <a:r>
              <a:rPr dirty="0"/>
              <a:t>	</a:t>
            </a:r>
            <a:r>
              <a:rPr spc="-10" dirty="0"/>
              <a:t>serves</a:t>
            </a:r>
            <a:r>
              <a:rPr dirty="0"/>
              <a:t>	</a:t>
            </a:r>
            <a:r>
              <a:rPr spc="-25" dirty="0"/>
              <a:t>as</a:t>
            </a:r>
            <a:r>
              <a:rPr dirty="0"/>
              <a:t>	</a:t>
            </a:r>
            <a:r>
              <a:rPr spc="-50" dirty="0"/>
              <a:t>a</a:t>
            </a:r>
            <a:r>
              <a:rPr dirty="0"/>
              <a:t>	</a:t>
            </a:r>
            <a:r>
              <a:rPr spc="55" dirty="0"/>
              <a:t>foundation</a:t>
            </a:r>
            <a:r>
              <a:rPr dirty="0"/>
              <a:t>	</a:t>
            </a:r>
            <a:r>
              <a:rPr spc="-25" dirty="0"/>
              <a:t>for</a:t>
            </a:r>
            <a:r>
              <a:rPr dirty="0"/>
              <a:t>	</a:t>
            </a:r>
            <a:r>
              <a:rPr spc="50" dirty="0"/>
              <a:t>developing</a:t>
            </a:r>
            <a:r>
              <a:rPr dirty="0"/>
              <a:t>	</a:t>
            </a:r>
            <a:r>
              <a:rPr spc="60" dirty="0"/>
              <a:t>more</a:t>
            </a:r>
            <a:r>
              <a:rPr dirty="0"/>
              <a:t>	</a:t>
            </a:r>
            <a:r>
              <a:rPr spc="50" dirty="0"/>
              <a:t>advanced </a:t>
            </a:r>
            <a:r>
              <a:rPr spc="65" dirty="0"/>
              <a:t>robotic</a:t>
            </a:r>
            <a:r>
              <a:rPr spc="-55" dirty="0"/>
              <a:t> </a:t>
            </a:r>
            <a:r>
              <a:rPr spc="-10" dirty="0"/>
              <a:t>systems.</a:t>
            </a:r>
          </a:p>
          <a:p>
            <a:pPr marL="12700" marR="5080">
              <a:lnSpc>
                <a:spcPts val="4880"/>
              </a:lnSpc>
              <a:spcBef>
                <a:spcPts val="275"/>
              </a:spcBef>
              <a:tabLst>
                <a:tab pos="1202055" algn="l"/>
                <a:tab pos="3096895" algn="l"/>
                <a:tab pos="6545580" algn="l"/>
                <a:tab pos="7806055" algn="l"/>
                <a:tab pos="10567670" algn="l"/>
                <a:tab pos="13119735" algn="l"/>
                <a:tab pos="15654655" algn="l"/>
                <a:tab pos="16731615" algn="l"/>
              </a:tabLst>
            </a:pPr>
            <a:r>
              <a:rPr spc="-20" dirty="0"/>
              <a:t>This</a:t>
            </a:r>
            <a:r>
              <a:rPr dirty="0"/>
              <a:t>	</a:t>
            </a:r>
            <a:r>
              <a:rPr spc="-10" dirty="0"/>
              <a:t>project</a:t>
            </a:r>
            <a:r>
              <a:rPr dirty="0"/>
              <a:t>	</a:t>
            </a:r>
            <a:r>
              <a:rPr spc="45" dirty="0"/>
              <a:t>demonstrates</a:t>
            </a:r>
            <a:r>
              <a:rPr dirty="0"/>
              <a:t>	</a:t>
            </a:r>
            <a:r>
              <a:rPr spc="70" dirty="0"/>
              <a:t>how</a:t>
            </a:r>
            <a:r>
              <a:rPr dirty="0"/>
              <a:t>	</a:t>
            </a:r>
            <a:r>
              <a:rPr spc="35" dirty="0"/>
              <a:t>theoretical</a:t>
            </a:r>
            <a:r>
              <a:rPr dirty="0"/>
              <a:t>	</a:t>
            </a:r>
            <a:r>
              <a:rPr spc="45" dirty="0"/>
              <a:t>electronic</a:t>
            </a:r>
            <a:r>
              <a:rPr dirty="0"/>
              <a:t>	</a:t>
            </a:r>
            <a:r>
              <a:rPr spc="60" dirty="0"/>
              <a:t>principles</a:t>
            </a:r>
            <a:r>
              <a:rPr dirty="0"/>
              <a:t>	</a:t>
            </a:r>
            <a:r>
              <a:rPr spc="35" dirty="0"/>
              <a:t>can</a:t>
            </a:r>
            <a:r>
              <a:rPr dirty="0"/>
              <a:t>	</a:t>
            </a:r>
            <a:r>
              <a:rPr spc="70" dirty="0"/>
              <a:t>be </a:t>
            </a:r>
            <a:r>
              <a:rPr spc="100" dirty="0"/>
              <a:t>applied</a:t>
            </a:r>
            <a:r>
              <a:rPr spc="-70" dirty="0"/>
              <a:t> </a:t>
            </a:r>
            <a:r>
              <a:rPr spc="70" dirty="0"/>
              <a:t>in</a:t>
            </a:r>
            <a:r>
              <a:rPr spc="-65" dirty="0"/>
              <a:t> </a:t>
            </a:r>
            <a:r>
              <a:rPr spc="50" dirty="0"/>
              <a:t>practical</a:t>
            </a:r>
            <a:r>
              <a:rPr spc="-70" dirty="0"/>
              <a:t> </a:t>
            </a:r>
            <a:r>
              <a:rPr spc="-10" dirty="0"/>
              <a:t>systems.</a:t>
            </a:r>
          </a:p>
          <a:p>
            <a:pPr marL="12700">
              <a:lnSpc>
                <a:spcPct val="100000"/>
              </a:lnSpc>
              <a:spcBef>
                <a:spcPts val="390"/>
              </a:spcBef>
              <a:tabLst>
                <a:tab pos="930910" algn="l"/>
                <a:tab pos="4140200" algn="l"/>
                <a:tab pos="6988175" algn="l"/>
                <a:tab pos="11442065" algn="l"/>
                <a:tab pos="12896215" algn="l"/>
              </a:tabLst>
            </a:pPr>
            <a:r>
              <a:rPr spc="-280" dirty="0"/>
              <a:t>It</a:t>
            </a:r>
            <a:r>
              <a:rPr dirty="0"/>
              <a:t>	</a:t>
            </a:r>
            <a:r>
              <a:rPr spc="-10" dirty="0"/>
              <a:t>encourages</a:t>
            </a:r>
            <a:r>
              <a:rPr dirty="0"/>
              <a:t>	</a:t>
            </a:r>
            <a:r>
              <a:rPr spc="-10" dirty="0"/>
              <a:t>creativity,</a:t>
            </a:r>
            <a:r>
              <a:rPr dirty="0"/>
              <a:t>	</a:t>
            </a:r>
            <a:r>
              <a:rPr spc="65" dirty="0"/>
              <a:t>problem-</a:t>
            </a:r>
            <a:r>
              <a:rPr spc="-10" dirty="0"/>
              <a:t>solving,</a:t>
            </a:r>
            <a:r>
              <a:rPr dirty="0"/>
              <a:t>	</a:t>
            </a:r>
            <a:r>
              <a:rPr spc="75" dirty="0"/>
              <a:t>and</a:t>
            </a:r>
            <a:r>
              <a:rPr dirty="0"/>
              <a:t>	</a:t>
            </a:r>
            <a:r>
              <a:rPr spc="-10" dirty="0"/>
              <a:t>hardware–software</a:t>
            </a: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/>
              <a:t>integration</a:t>
            </a:r>
            <a:r>
              <a:rPr spc="390" dirty="0"/>
              <a:t> </a:t>
            </a:r>
            <a:r>
              <a:rPr spc="-10" dirty="0"/>
              <a:t>skills.</a:t>
            </a:r>
          </a:p>
          <a:p>
            <a:pPr marL="12700" marR="5080">
              <a:lnSpc>
                <a:spcPts val="4880"/>
              </a:lnSpc>
              <a:spcBef>
                <a:spcPts val="275"/>
              </a:spcBef>
            </a:pPr>
            <a:r>
              <a:rPr dirty="0"/>
              <a:t>The</a:t>
            </a:r>
            <a:r>
              <a:rPr spc="-40" dirty="0"/>
              <a:t> </a:t>
            </a:r>
            <a:r>
              <a:rPr spc="80" dirty="0"/>
              <a:t>simplicity</a:t>
            </a:r>
            <a:r>
              <a:rPr spc="-3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RF</a:t>
            </a:r>
            <a:r>
              <a:rPr spc="-35" dirty="0"/>
              <a:t> </a:t>
            </a:r>
            <a:r>
              <a:rPr spc="90" dirty="0"/>
              <a:t>communication</a:t>
            </a:r>
            <a:r>
              <a:rPr spc="-35" dirty="0"/>
              <a:t> </a:t>
            </a:r>
            <a:r>
              <a:rPr spc="50" dirty="0"/>
              <a:t>makes</a:t>
            </a:r>
            <a:r>
              <a:rPr spc="-40" dirty="0"/>
              <a:t> </a:t>
            </a:r>
            <a:r>
              <a:rPr spc="50" dirty="0"/>
              <a:t>it</a:t>
            </a:r>
            <a:r>
              <a:rPr spc="-35" dirty="0"/>
              <a:t> </a:t>
            </a:r>
            <a:r>
              <a:rPr spc="65" dirty="0"/>
              <a:t>ideal</a:t>
            </a:r>
            <a:r>
              <a:rPr spc="-40" dirty="0"/>
              <a:t> </a:t>
            </a:r>
            <a:r>
              <a:rPr dirty="0"/>
              <a:t>for</a:t>
            </a:r>
            <a:r>
              <a:rPr spc="-35" dirty="0"/>
              <a:t> </a:t>
            </a:r>
            <a:r>
              <a:rPr spc="55" dirty="0"/>
              <a:t>beginners</a:t>
            </a:r>
            <a:r>
              <a:rPr spc="-35" dirty="0"/>
              <a:t> </a:t>
            </a:r>
            <a:r>
              <a:rPr spc="70" dirty="0"/>
              <a:t>in</a:t>
            </a:r>
            <a:r>
              <a:rPr spc="-40" dirty="0"/>
              <a:t> </a:t>
            </a:r>
            <a:r>
              <a:rPr spc="50" dirty="0"/>
              <a:t>robotics </a:t>
            </a:r>
            <a:r>
              <a:rPr spc="100" dirty="0"/>
              <a:t>and</a:t>
            </a:r>
            <a:r>
              <a:rPr spc="-90" dirty="0"/>
              <a:t> </a:t>
            </a:r>
            <a:r>
              <a:rPr spc="-10" dirty="0"/>
              <a:t>automation.</a:t>
            </a:r>
          </a:p>
          <a:p>
            <a:pPr marL="12700">
              <a:lnSpc>
                <a:spcPct val="100000"/>
              </a:lnSpc>
              <a:spcBef>
                <a:spcPts val="390"/>
              </a:spcBef>
              <a:tabLst>
                <a:tab pos="2084705" algn="l"/>
                <a:tab pos="3201035" algn="l"/>
                <a:tab pos="6668134" algn="l"/>
                <a:tab pos="7724775" algn="l"/>
                <a:tab pos="9707880" algn="l"/>
                <a:tab pos="12824460" algn="l"/>
                <a:tab pos="14598015" algn="l"/>
                <a:tab pos="15513685" algn="l"/>
                <a:tab pos="16849090" algn="l"/>
              </a:tabLst>
            </a:pPr>
            <a:r>
              <a:rPr spc="-10" dirty="0"/>
              <a:t>Overall,</a:t>
            </a:r>
            <a:r>
              <a:rPr dirty="0"/>
              <a:t>	</a:t>
            </a:r>
            <a:r>
              <a:rPr spc="45" dirty="0"/>
              <a:t>the</a:t>
            </a:r>
            <a:r>
              <a:rPr dirty="0"/>
              <a:t>	</a:t>
            </a:r>
            <a:r>
              <a:rPr spc="-65" dirty="0"/>
              <a:t>RF-</a:t>
            </a:r>
            <a:r>
              <a:rPr spc="60" dirty="0"/>
              <a:t>controlled</a:t>
            </a:r>
            <a:r>
              <a:rPr dirty="0"/>
              <a:t>	</a:t>
            </a:r>
            <a:r>
              <a:rPr spc="-25" dirty="0"/>
              <a:t>car</a:t>
            </a:r>
            <a:r>
              <a:rPr dirty="0"/>
              <a:t>	</a:t>
            </a:r>
            <a:r>
              <a:rPr spc="-10" dirty="0"/>
              <a:t>project</a:t>
            </a:r>
            <a:r>
              <a:rPr dirty="0"/>
              <a:t>	</a:t>
            </a:r>
            <a:r>
              <a:rPr spc="-10" dirty="0"/>
              <a:t>successfully</a:t>
            </a:r>
            <a:r>
              <a:rPr dirty="0"/>
              <a:t>	</a:t>
            </a:r>
            <a:r>
              <a:rPr spc="60" dirty="0"/>
              <a:t>meets</a:t>
            </a:r>
            <a:r>
              <a:rPr dirty="0"/>
              <a:t>	</a:t>
            </a:r>
            <a:r>
              <a:rPr spc="-25" dirty="0"/>
              <a:t>its</a:t>
            </a:r>
            <a:r>
              <a:rPr dirty="0"/>
              <a:t>	</a:t>
            </a:r>
            <a:r>
              <a:rPr spc="30" dirty="0"/>
              <a:t>goal</a:t>
            </a:r>
            <a:r>
              <a:rPr dirty="0"/>
              <a:t>	</a:t>
            </a:r>
            <a:r>
              <a:rPr spc="-25" dirty="0"/>
              <a:t>of</a:t>
            </a: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pc="50" dirty="0"/>
              <a:t>showcasing</a:t>
            </a:r>
            <a:r>
              <a:rPr spc="-25" dirty="0"/>
              <a:t> </a:t>
            </a:r>
            <a:r>
              <a:rPr spc="50" dirty="0"/>
              <a:t>efficient</a:t>
            </a:r>
            <a:r>
              <a:rPr spc="-20" dirty="0"/>
              <a:t> </a:t>
            </a:r>
            <a:r>
              <a:rPr dirty="0"/>
              <a:t>wireless</a:t>
            </a:r>
            <a:r>
              <a:rPr spc="-25" dirty="0"/>
              <a:t> </a:t>
            </a:r>
            <a:r>
              <a:rPr spc="55" dirty="0"/>
              <a:t>control</a:t>
            </a:r>
            <a:r>
              <a:rPr spc="-20" dirty="0"/>
              <a:t> </a:t>
            </a:r>
            <a:r>
              <a:rPr spc="100" dirty="0"/>
              <a:t>and</a:t>
            </a:r>
            <a:r>
              <a:rPr spc="-25" dirty="0"/>
              <a:t> </a:t>
            </a:r>
            <a:r>
              <a:rPr spc="60" dirty="0"/>
              <a:t>basic</a:t>
            </a:r>
            <a:r>
              <a:rPr spc="-20" dirty="0"/>
              <a:t> </a:t>
            </a:r>
            <a:r>
              <a:rPr spc="60" dirty="0"/>
              <a:t>robotics</a:t>
            </a:r>
            <a:r>
              <a:rPr spc="-25" dirty="0"/>
              <a:t> </a:t>
            </a:r>
            <a:r>
              <a:rPr spc="-10" dirty="0"/>
              <a:t>functionality.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042" y="6526097"/>
            <a:ext cx="15483205" cy="3761104"/>
            <a:chOff x="-2042" y="6526097"/>
            <a:chExt cx="15483205" cy="376110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2042" y="6526097"/>
              <a:ext cx="3910147" cy="376090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808311" y="9567373"/>
              <a:ext cx="11673205" cy="0"/>
            </a:xfrm>
            <a:custGeom>
              <a:avLst/>
              <a:gdLst/>
              <a:ahLst/>
              <a:cxnLst/>
              <a:rect l="l" t="t" r="r" b="b"/>
              <a:pathLst>
                <a:path w="11673205">
                  <a:moveTo>
                    <a:pt x="0" y="0"/>
                  </a:moveTo>
                  <a:lnTo>
                    <a:pt x="11672840" y="0"/>
                  </a:lnTo>
                </a:path>
              </a:pathLst>
            </a:custGeom>
            <a:ln w="9524">
              <a:solidFill>
                <a:srgbClr val="5353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7299" y="2846140"/>
            <a:ext cx="85725" cy="857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7299" y="3608140"/>
            <a:ext cx="85725" cy="857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7299" y="4370140"/>
            <a:ext cx="85725" cy="857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7299" y="5132140"/>
            <a:ext cx="85725" cy="857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7299" y="5894139"/>
            <a:ext cx="85725" cy="8572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7299" y="6656140"/>
            <a:ext cx="85725" cy="8572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7299" y="7418140"/>
            <a:ext cx="85725" cy="8572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478855" y="2640235"/>
            <a:ext cx="9598025" cy="535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13155">
              <a:lnSpc>
                <a:spcPct val="116300"/>
              </a:lnSpc>
              <a:spcBef>
                <a:spcPts val="100"/>
              </a:spcBef>
            </a:pPr>
            <a:r>
              <a:rPr sz="2150" spc="-60" dirty="0">
                <a:latin typeface="Verdana"/>
                <a:cs typeface="Verdana"/>
              </a:rPr>
              <a:t>The</a:t>
            </a:r>
            <a:r>
              <a:rPr sz="2150" spc="-105" dirty="0">
                <a:latin typeface="Verdana"/>
                <a:cs typeface="Verdana"/>
              </a:rPr>
              <a:t> </a:t>
            </a:r>
            <a:r>
              <a:rPr sz="2150" spc="-65" dirty="0">
                <a:latin typeface="Verdana"/>
                <a:cs typeface="Verdana"/>
              </a:rPr>
              <a:t>RF-</a:t>
            </a:r>
            <a:r>
              <a:rPr sz="2150" dirty="0">
                <a:latin typeface="Verdana"/>
                <a:cs typeface="Verdana"/>
              </a:rPr>
              <a:t>controlled</a:t>
            </a:r>
            <a:r>
              <a:rPr sz="2150" spc="-110" dirty="0">
                <a:latin typeface="Verdana"/>
                <a:cs typeface="Verdana"/>
              </a:rPr>
              <a:t> </a:t>
            </a:r>
            <a:r>
              <a:rPr sz="2150" spc="-35" dirty="0">
                <a:latin typeface="Verdana"/>
                <a:cs typeface="Verdana"/>
              </a:rPr>
              <a:t>car</a:t>
            </a:r>
            <a:r>
              <a:rPr sz="2150" spc="-105" dirty="0">
                <a:latin typeface="Verdana"/>
                <a:cs typeface="Verdana"/>
              </a:rPr>
              <a:t> </a:t>
            </a:r>
            <a:r>
              <a:rPr sz="2150" spc="-35" dirty="0">
                <a:latin typeface="Verdana"/>
                <a:cs typeface="Verdana"/>
              </a:rPr>
              <a:t>effectively</a:t>
            </a:r>
            <a:r>
              <a:rPr sz="2150" spc="-105" dirty="0">
                <a:latin typeface="Verdana"/>
                <a:cs typeface="Verdana"/>
              </a:rPr>
              <a:t> </a:t>
            </a:r>
            <a:r>
              <a:rPr sz="2150" spc="-20" dirty="0">
                <a:latin typeface="Verdana"/>
                <a:cs typeface="Verdana"/>
              </a:rPr>
              <a:t>demonstrates</a:t>
            </a:r>
            <a:r>
              <a:rPr sz="2150" spc="-105" dirty="0">
                <a:latin typeface="Verdana"/>
                <a:cs typeface="Verdana"/>
              </a:rPr>
              <a:t> </a:t>
            </a:r>
            <a:r>
              <a:rPr sz="2150" dirty="0">
                <a:latin typeface="Verdana"/>
                <a:cs typeface="Verdana"/>
              </a:rPr>
              <a:t>the</a:t>
            </a:r>
            <a:r>
              <a:rPr sz="2150" spc="-105" dirty="0">
                <a:latin typeface="Verdana"/>
                <a:cs typeface="Verdana"/>
              </a:rPr>
              <a:t> </a:t>
            </a:r>
            <a:r>
              <a:rPr sz="2150" spc="-50" dirty="0">
                <a:latin typeface="Verdana"/>
                <a:cs typeface="Verdana"/>
              </a:rPr>
              <a:t>use</a:t>
            </a:r>
            <a:r>
              <a:rPr sz="2150" spc="-105" dirty="0">
                <a:latin typeface="Verdana"/>
                <a:cs typeface="Verdana"/>
              </a:rPr>
              <a:t> </a:t>
            </a:r>
            <a:r>
              <a:rPr sz="2150" dirty="0">
                <a:latin typeface="Verdana"/>
                <a:cs typeface="Verdana"/>
              </a:rPr>
              <a:t>of</a:t>
            </a:r>
            <a:r>
              <a:rPr sz="2150" spc="-105" dirty="0">
                <a:latin typeface="Verdana"/>
                <a:cs typeface="Verdana"/>
              </a:rPr>
              <a:t> </a:t>
            </a:r>
            <a:r>
              <a:rPr sz="2150" spc="-10" dirty="0">
                <a:latin typeface="Verdana"/>
                <a:cs typeface="Verdana"/>
              </a:rPr>
              <a:t>radio frequency</a:t>
            </a:r>
            <a:r>
              <a:rPr sz="2150" spc="-15" dirty="0">
                <a:latin typeface="Verdana"/>
                <a:cs typeface="Verdana"/>
              </a:rPr>
              <a:t> </a:t>
            </a:r>
            <a:r>
              <a:rPr sz="2150" dirty="0">
                <a:latin typeface="Verdana"/>
                <a:cs typeface="Verdana"/>
              </a:rPr>
              <a:t>communication</a:t>
            </a:r>
            <a:r>
              <a:rPr sz="2150" spc="-10" dirty="0">
                <a:latin typeface="Verdana"/>
                <a:cs typeface="Verdana"/>
              </a:rPr>
              <a:t> </a:t>
            </a:r>
            <a:r>
              <a:rPr sz="2150" spc="-25" dirty="0">
                <a:latin typeface="Verdana"/>
                <a:cs typeface="Verdana"/>
              </a:rPr>
              <a:t>for</a:t>
            </a:r>
            <a:r>
              <a:rPr sz="2150" spc="-10" dirty="0">
                <a:latin typeface="Verdana"/>
                <a:cs typeface="Verdana"/>
              </a:rPr>
              <a:t> </a:t>
            </a:r>
            <a:r>
              <a:rPr sz="2150" dirty="0">
                <a:latin typeface="Verdana"/>
                <a:cs typeface="Verdana"/>
              </a:rPr>
              <a:t>remote</a:t>
            </a:r>
            <a:r>
              <a:rPr sz="2150" spc="-15" dirty="0">
                <a:latin typeface="Verdana"/>
                <a:cs typeface="Verdana"/>
              </a:rPr>
              <a:t> </a:t>
            </a:r>
            <a:r>
              <a:rPr sz="2150" spc="-10" dirty="0">
                <a:latin typeface="Verdana"/>
                <a:cs typeface="Verdana"/>
              </a:rPr>
              <a:t>operation.</a:t>
            </a:r>
            <a:endParaRPr sz="2150">
              <a:latin typeface="Verdana"/>
              <a:cs typeface="Verdana"/>
            </a:endParaRPr>
          </a:p>
          <a:p>
            <a:pPr marL="12700" marR="5080">
              <a:lnSpc>
                <a:spcPct val="116300"/>
              </a:lnSpc>
            </a:pPr>
            <a:r>
              <a:rPr sz="2150" spc="-60" dirty="0">
                <a:latin typeface="Verdana"/>
                <a:cs typeface="Verdana"/>
              </a:rPr>
              <a:t>The</a:t>
            </a:r>
            <a:r>
              <a:rPr sz="2150" spc="-110" dirty="0">
                <a:latin typeface="Verdana"/>
                <a:cs typeface="Verdana"/>
              </a:rPr>
              <a:t> </a:t>
            </a:r>
            <a:r>
              <a:rPr sz="2150" spc="-75" dirty="0">
                <a:latin typeface="Verdana"/>
                <a:cs typeface="Verdana"/>
              </a:rPr>
              <a:t>system’s</a:t>
            </a:r>
            <a:r>
              <a:rPr sz="2150" spc="-110" dirty="0">
                <a:latin typeface="Verdana"/>
                <a:cs typeface="Verdana"/>
              </a:rPr>
              <a:t> </a:t>
            </a:r>
            <a:r>
              <a:rPr sz="2150" dirty="0">
                <a:latin typeface="Verdana"/>
                <a:cs typeface="Verdana"/>
              </a:rPr>
              <a:t>performance</a:t>
            </a:r>
            <a:r>
              <a:rPr sz="2150" spc="-110" dirty="0">
                <a:latin typeface="Verdana"/>
                <a:cs typeface="Verdana"/>
              </a:rPr>
              <a:t> </a:t>
            </a:r>
            <a:r>
              <a:rPr sz="2150" dirty="0">
                <a:latin typeface="Verdana"/>
                <a:cs typeface="Verdana"/>
              </a:rPr>
              <a:t>depends</a:t>
            </a:r>
            <a:r>
              <a:rPr sz="2150" spc="-110" dirty="0">
                <a:latin typeface="Verdana"/>
                <a:cs typeface="Verdana"/>
              </a:rPr>
              <a:t> </a:t>
            </a:r>
            <a:r>
              <a:rPr sz="2150" dirty="0">
                <a:latin typeface="Verdana"/>
                <a:cs typeface="Verdana"/>
              </a:rPr>
              <a:t>on</a:t>
            </a:r>
            <a:r>
              <a:rPr sz="2150" spc="-110" dirty="0">
                <a:latin typeface="Verdana"/>
                <a:cs typeface="Verdana"/>
              </a:rPr>
              <a:t> </a:t>
            </a:r>
            <a:r>
              <a:rPr sz="2150" dirty="0">
                <a:latin typeface="Verdana"/>
                <a:cs typeface="Verdana"/>
              </a:rPr>
              <a:t>the</a:t>
            </a:r>
            <a:r>
              <a:rPr sz="2150" spc="-110" dirty="0">
                <a:latin typeface="Verdana"/>
                <a:cs typeface="Verdana"/>
              </a:rPr>
              <a:t> </a:t>
            </a:r>
            <a:r>
              <a:rPr sz="2150" spc="-10" dirty="0">
                <a:latin typeface="Verdana"/>
                <a:cs typeface="Verdana"/>
              </a:rPr>
              <a:t>strength</a:t>
            </a:r>
            <a:r>
              <a:rPr sz="2150" spc="-110" dirty="0">
                <a:latin typeface="Verdana"/>
                <a:cs typeface="Verdana"/>
              </a:rPr>
              <a:t> </a:t>
            </a:r>
            <a:r>
              <a:rPr sz="2150" dirty="0">
                <a:latin typeface="Verdana"/>
                <a:cs typeface="Verdana"/>
              </a:rPr>
              <a:t>and</a:t>
            </a:r>
            <a:r>
              <a:rPr sz="2150" spc="-105" dirty="0">
                <a:latin typeface="Verdana"/>
                <a:cs typeface="Verdana"/>
              </a:rPr>
              <a:t> </a:t>
            </a:r>
            <a:r>
              <a:rPr sz="2150" spc="-20" dirty="0">
                <a:latin typeface="Verdana"/>
                <a:cs typeface="Verdana"/>
              </a:rPr>
              <a:t>stability</a:t>
            </a:r>
            <a:r>
              <a:rPr sz="2150" spc="-110" dirty="0">
                <a:latin typeface="Verdana"/>
                <a:cs typeface="Verdana"/>
              </a:rPr>
              <a:t> </a:t>
            </a:r>
            <a:r>
              <a:rPr sz="2150" dirty="0">
                <a:latin typeface="Verdana"/>
                <a:cs typeface="Verdana"/>
              </a:rPr>
              <a:t>of</a:t>
            </a:r>
            <a:r>
              <a:rPr sz="2150" spc="-110" dirty="0">
                <a:latin typeface="Verdana"/>
                <a:cs typeface="Verdana"/>
              </a:rPr>
              <a:t> </a:t>
            </a:r>
            <a:r>
              <a:rPr sz="2150" spc="-25" dirty="0">
                <a:latin typeface="Verdana"/>
                <a:cs typeface="Verdana"/>
              </a:rPr>
              <a:t>the </a:t>
            </a:r>
            <a:r>
              <a:rPr sz="2150" dirty="0">
                <a:latin typeface="Verdana"/>
                <a:cs typeface="Verdana"/>
              </a:rPr>
              <a:t>RF</a:t>
            </a:r>
            <a:r>
              <a:rPr sz="2150" spc="-155" dirty="0">
                <a:latin typeface="Verdana"/>
                <a:cs typeface="Verdana"/>
              </a:rPr>
              <a:t> </a:t>
            </a:r>
            <a:r>
              <a:rPr sz="2150" spc="-10" dirty="0">
                <a:latin typeface="Verdana"/>
                <a:cs typeface="Verdana"/>
              </a:rPr>
              <a:t>signal.</a:t>
            </a:r>
            <a:endParaRPr sz="2150">
              <a:latin typeface="Verdana"/>
              <a:cs typeface="Verdana"/>
            </a:endParaRPr>
          </a:p>
          <a:p>
            <a:pPr marL="12700" marR="1316990">
              <a:lnSpc>
                <a:spcPct val="116300"/>
              </a:lnSpc>
            </a:pPr>
            <a:r>
              <a:rPr sz="2150" spc="-60" dirty="0">
                <a:latin typeface="Verdana"/>
                <a:cs typeface="Verdana"/>
              </a:rPr>
              <a:t>The</a:t>
            </a:r>
            <a:r>
              <a:rPr sz="2150" spc="-125" dirty="0">
                <a:latin typeface="Verdana"/>
                <a:cs typeface="Verdana"/>
              </a:rPr>
              <a:t> </a:t>
            </a:r>
            <a:r>
              <a:rPr sz="2150" spc="-60" dirty="0">
                <a:latin typeface="Verdana"/>
                <a:cs typeface="Verdana"/>
              </a:rPr>
              <a:t>transmitter–receiver</a:t>
            </a:r>
            <a:r>
              <a:rPr sz="2150" spc="-120" dirty="0">
                <a:latin typeface="Verdana"/>
                <a:cs typeface="Verdana"/>
              </a:rPr>
              <a:t> </a:t>
            </a:r>
            <a:r>
              <a:rPr sz="2150" dirty="0">
                <a:latin typeface="Verdana"/>
                <a:cs typeface="Verdana"/>
              </a:rPr>
              <a:t>pair</a:t>
            </a:r>
            <a:r>
              <a:rPr sz="2150" spc="-125" dirty="0">
                <a:latin typeface="Verdana"/>
                <a:cs typeface="Verdana"/>
              </a:rPr>
              <a:t> </a:t>
            </a:r>
            <a:r>
              <a:rPr sz="2150" spc="-35" dirty="0">
                <a:latin typeface="Verdana"/>
                <a:cs typeface="Verdana"/>
              </a:rPr>
              <a:t>successfully</a:t>
            </a:r>
            <a:r>
              <a:rPr sz="2150" spc="-120" dirty="0">
                <a:latin typeface="Verdana"/>
                <a:cs typeface="Verdana"/>
              </a:rPr>
              <a:t> </a:t>
            </a:r>
            <a:r>
              <a:rPr sz="2150" spc="-30" dirty="0">
                <a:latin typeface="Verdana"/>
                <a:cs typeface="Verdana"/>
              </a:rPr>
              <a:t>establishes</a:t>
            </a:r>
            <a:r>
              <a:rPr sz="2150" spc="-125" dirty="0">
                <a:latin typeface="Verdana"/>
                <a:cs typeface="Verdana"/>
              </a:rPr>
              <a:t> </a:t>
            </a:r>
            <a:r>
              <a:rPr sz="2150" spc="-10" dirty="0">
                <a:latin typeface="Verdana"/>
                <a:cs typeface="Verdana"/>
              </a:rPr>
              <a:t>wireless </a:t>
            </a:r>
            <a:r>
              <a:rPr sz="2150" dirty="0">
                <a:latin typeface="Verdana"/>
                <a:cs typeface="Verdana"/>
              </a:rPr>
              <a:t>communication </a:t>
            </a:r>
            <a:r>
              <a:rPr sz="2150" spc="50" dirty="0">
                <a:latin typeface="Verdana"/>
                <a:cs typeface="Verdana"/>
              </a:rPr>
              <a:t>within</a:t>
            </a:r>
            <a:r>
              <a:rPr sz="2150" spc="15" dirty="0">
                <a:latin typeface="Verdana"/>
                <a:cs typeface="Verdana"/>
              </a:rPr>
              <a:t> </a:t>
            </a:r>
            <a:r>
              <a:rPr sz="2150" spc="-40" dirty="0">
                <a:latin typeface="Verdana"/>
                <a:cs typeface="Verdana"/>
              </a:rPr>
              <a:t>a</a:t>
            </a:r>
            <a:r>
              <a:rPr sz="2150" spc="15" dirty="0">
                <a:latin typeface="Verdana"/>
                <a:cs typeface="Verdana"/>
              </a:rPr>
              <a:t> </a:t>
            </a:r>
            <a:r>
              <a:rPr sz="2150" dirty="0">
                <a:latin typeface="Verdana"/>
                <a:cs typeface="Verdana"/>
              </a:rPr>
              <a:t>defined</a:t>
            </a:r>
            <a:r>
              <a:rPr sz="2150" spc="15" dirty="0">
                <a:latin typeface="Verdana"/>
                <a:cs typeface="Verdana"/>
              </a:rPr>
              <a:t> </a:t>
            </a:r>
            <a:r>
              <a:rPr sz="2150" spc="-10" dirty="0">
                <a:latin typeface="Verdana"/>
                <a:cs typeface="Verdana"/>
              </a:rPr>
              <a:t>range.</a:t>
            </a:r>
            <a:endParaRPr sz="2150">
              <a:latin typeface="Verdana"/>
              <a:cs typeface="Verdana"/>
            </a:endParaRPr>
          </a:p>
          <a:p>
            <a:pPr marL="12700" marR="971550">
              <a:lnSpc>
                <a:spcPct val="116300"/>
              </a:lnSpc>
            </a:pPr>
            <a:r>
              <a:rPr sz="2150" spc="-20" dirty="0">
                <a:latin typeface="Verdana"/>
                <a:cs typeface="Verdana"/>
              </a:rPr>
              <a:t>Signal</a:t>
            </a:r>
            <a:r>
              <a:rPr sz="2150" spc="-105" dirty="0">
                <a:latin typeface="Verdana"/>
                <a:cs typeface="Verdana"/>
              </a:rPr>
              <a:t> </a:t>
            </a:r>
            <a:r>
              <a:rPr sz="2150" spc="-25" dirty="0">
                <a:latin typeface="Verdana"/>
                <a:cs typeface="Verdana"/>
              </a:rPr>
              <a:t>transmission</a:t>
            </a:r>
            <a:r>
              <a:rPr sz="2150" spc="-105" dirty="0">
                <a:latin typeface="Verdana"/>
                <a:cs typeface="Verdana"/>
              </a:rPr>
              <a:t> </a:t>
            </a:r>
            <a:r>
              <a:rPr sz="2150" spc="-25" dirty="0">
                <a:latin typeface="Verdana"/>
                <a:cs typeface="Verdana"/>
              </a:rPr>
              <a:t>was</a:t>
            </a:r>
            <a:r>
              <a:rPr sz="2150" spc="-100" dirty="0">
                <a:latin typeface="Verdana"/>
                <a:cs typeface="Verdana"/>
              </a:rPr>
              <a:t> </a:t>
            </a:r>
            <a:r>
              <a:rPr sz="2150" dirty="0">
                <a:latin typeface="Verdana"/>
                <a:cs typeface="Verdana"/>
              </a:rPr>
              <a:t>found</a:t>
            </a:r>
            <a:r>
              <a:rPr sz="2150" spc="-105" dirty="0">
                <a:latin typeface="Verdana"/>
                <a:cs typeface="Verdana"/>
              </a:rPr>
              <a:t> </a:t>
            </a:r>
            <a:r>
              <a:rPr sz="2150" dirty="0">
                <a:latin typeface="Verdana"/>
                <a:cs typeface="Verdana"/>
              </a:rPr>
              <a:t>to</a:t>
            </a:r>
            <a:r>
              <a:rPr sz="2150" spc="-105" dirty="0">
                <a:latin typeface="Verdana"/>
                <a:cs typeface="Verdana"/>
              </a:rPr>
              <a:t> </a:t>
            </a:r>
            <a:r>
              <a:rPr sz="2150" dirty="0">
                <a:latin typeface="Verdana"/>
                <a:cs typeface="Verdana"/>
              </a:rPr>
              <a:t>be</a:t>
            </a:r>
            <a:r>
              <a:rPr sz="2150" spc="-100" dirty="0">
                <a:latin typeface="Verdana"/>
                <a:cs typeface="Verdana"/>
              </a:rPr>
              <a:t> </a:t>
            </a:r>
            <a:r>
              <a:rPr sz="2150" dirty="0">
                <a:latin typeface="Verdana"/>
                <a:cs typeface="Verdana"/>
              </a:rPr>
              <a:t>reliable</a:t>
            </a:r>
            <a:r>
              <a:rPr sz="2150" spc="-105" dirty="0">
                <a:latin typeface="Verdana"/>
                <a:cs typeface="Verdana"/>
              </a:rPr>
              <a:t> </a:t>
            </a:r>
            <a:r>
              <a:rPr sz="2150" dirty="0">
                <a:latin typeface="Verdana"/>
                <a:cs typeface="Verdana"/>
              </a:rPr>
              <a:t>in</a:t>
            </a:r>
            <a:r>
              <a:rPr sz="2150" spc="-105" dirty="0">
                <a:latin typeface="Verdana"/>
                <a:cs typeface="Verdana"/>
              </a:rPr>
              <a:t> </a:t>
            </a:r>
            <a:r>
              <a:rPr sz="2150" dirty="0">
                <a:latin typeface="Verdana"/>
                <a:cs typeface="Verdana"/>
              </a:rPr>
              <a:t>open</a:t>
            </a:r>
            <a:r>
              <a:rPr sz="2150" spc="-100" dirty="0">
                <a:latin typeface="Verdana"/>
                <a:cs typeface="Verdana"/>
              </a:rPr>
              <a:t> </a:t>
            </a:r>
            <a:r>
              <a:rPr sz="2150" spc="-40" dirty="0">
                <a:latin typeface="Verdana"/>
                <a:cs typeface="Verdana"/>
              </a:rPr>
              <a:t>spaces</a:t>
            </a:r>
            <a:r>
              <a:rPr sz="2150" spc="-105" dirty="0">
                <a:latin typeface="Verdana"/>
                <a:cs typeface="Verdana"/>
              </a:rPr>
              <a:t> </a:t>
            </a:r>
            <a:r>
              <a:rPr sz="2150" spc="-25" dirty="0">
                <a:latin typeface="Verdana"/>
                <a:cs typeface="Verdana"/>
              </a:rPr>
              <a:t>but </a:t>
            </a:r>
            <a:r>
              <a:rPr sz="2150" dirty="0">
                <a:latin typeface="Verdana"/>
                <a:cs typeface="Verdana"/>
              </a:rPr>
              <a:t>reduced</a:t>
            </a:r>
            <a:r>
              <a:rPr sz="2150" spc="-85" dirty="0">
                <a:latin typeface="Verdana"/>
                <a:cs typeface="Verdana"/>
              </a:rPr>
              <a:t> </a:t>
            </a:r>
            <a:r>
              <a:rPr sz="2150" dirty="0">
                <a:latin typeface="Verdana"/>
                <a:cs typeface="Verdana"/>
              </a:rPr>
              <a:t>in</a:t>
            </a:r>
            <a:r>
              <a:rPr sz="2150" spc="-80" dirty="0">
                <a:latin typeface="Verdana"/>
                <a:cs typeface="Verdana"/>
              </a:rPr>
              <a:t> </a:t>
            </a:r>
            <a:r>
              <a:rPr sz="2150" dirty="0">
                <a:latin typeface="Verdana"/>
                <a:cs typeface="Verdana"/>
              </a:rPr>
              <a:t>enclosed</a:t>
            </a:r>
            <a:r>
              <a:rPr sz="2150" spc="-85" dirty="0">
                <a:latin typeface="Verdana"/>
                <a:cs typeface="Verdana"/>
              </a:rPr>
              <a:t> </a:t>
            </a:r>
            <a:r>
              <a:rPr sz="2150" spc="-25" dirty="0">
                <a:latin typeface="Verdana"/>
                <a:cs typeface="Verdana"/>
              </a:rPr>
              <a:t>or</a:t>
            </a:r>
            <a:r>
              <a:rPr sz="2150" spc="-80" dirty="0">
                <a:latin typeface="Verdana"/>
                <a:cs typeface="Verdana"/>
              </a:rPr>
              <a:t> </a:t>
            </a:r>
            <a:r>
              <a:rPr sz="2150" dirty="0">
                <a:latin typeface="Verdana"/>
                <a:cs typeface="Verdana"/>
              </a:rPr>
              <a:t>obstructed</a:t>
            </a:r>
            <a:r>
              <a:rPr sz="2150" spc="-85" dirty="0">
                <a:latin typeface="Verdana"/>
                <a:cs typeface="Verdana"/>
              </a:rPr>
              <a:t> </a:t>
            </a:r>
            <a:r>
              <a:rPr sz="2150" spc="-10" dirty="0">
                <a:latin typeface="Verdana"/>
                <a:cs typeface="Verdana"/>
              </a:rPr>
              <a:t>areas.</a:t>
            </a:r>
            <a:endParaRPr sz="2150">
              <a:latin typeface="Verdana"/>
              <a:cs typeface="Verdana"/>
            </a:endParaRPr>
          </a:p>
          <a:p>
            <a:pPr marL="12700" marR="1123950">
              <a:lnSpc>
                <a:spcPct val="116300"/>
              </a:lnSpc>
            </a:pPr>
            <a:r>
              <a:rPr sz="2150" spc="-60" dirty="0">
                <a:latin typeface="Verdana"/>
                <a:cs typeface="Verdana"/>
              </a:rPr>
              <a:t>The</a:t>
            </a:r>
            <a:r>
              <a:rPr sz="2150" spc="-110" dirty="0">
                <a:latin typeface="Verdana"/>
                <a:cs typeface="Verdana"/>
              </a:rPr>
              <a:t> </a:t>
            </a:r>
            <a:r>
              <a:rPr sz="2150" dirty="0">
                <a:latin typeface="Verdana"/>
                <a:cs typeface="Verdana"/>
              </a:rPr>
              <a:t>motor</a:t>
            </a:r>
            <a:r>
              <a:rPr sz="2150" spc="-110" dirty="0">
                <a:latin typeface="Verdana"/>
                <a:cs typeface="Verdana"/>
              </a:rPr>
              <a:t> </a:t>
            </a:r>
            <a:r>
              <a:rPr sz="2150" spc="-45" dirty="0">
                <a:latin typeface="Verdana"/>
                <a:cs typeface="Verdana"/>
              </a:rPr>
              <a:t>driver</a:t>
            </a:r>
            <a:r>
              <a:rPr sz="2150" spc="-110" dirty="0">
                <a:latin typeface="Verdana"/>
                <a:cs typeface="Verdana"/>
              </a:rPr>
              <a:t> </a:t>
            </a:r>
            <a:r>
              <a:rPr sz="2150" dirty="0">
                <a:latin typeface="Verdana"/>
                <a:cs typeface="Verdana"/>
              </a:rPr>
              <a:t>circuit</a:t>
            </a:r>
            <a:r>
              <a:rPr sz="2150" spc="-110" dirty="0">
                <a:latin typeface="Verdana"/>
                <a:cs typeface="Verdana"/>
              </a:rPr>
              <a:t> </a:t>
            </a:r>
            <a:r>
              <a:rPr sz="2150" dirty="0">
                <a:latin typeface="Verdana"/>
                <a:cs typeface="Verdana"/>
              </a:rPr>
              <a:t>efficiently</a:t>
            </a:r>
            <a:r>
              <a:rPr sz="2150" spc="-110" dirty="0">
                <a:latin typeface="Verdana"/>
                <a:cs typeface="Verdana"/>
              </a:rPr>
              <a:t> </a:t>
            </a:r>
            <a:r>
              <a:rPr sz="2150" spc="-50" dirty="0">
                <a:latin typeface="Verdana"/>
                <a:cs typeface="Verdana"/>
              </a:rPr>
              <a:t>converts</a:t>
            </a:r>
            <a:r>
              <a:rPr sz="2150" spc="-110" dirty="0">
                <a:latin typeface="Verdana"/>
                <a:cs typeface="Verdana"/>
              </a:rPr>
              <a:t> </a:t>
            </a:r>
            <a:r>
              <a:rPr sz="2150" dirty="0">
                <a:latin typeface="Verdana"/>
                <a:cs typeface="Verdana"/>
              </a:rPr>
              <a:t>control</a:t>
            </a:r>
            <a:r>
              <a:rPr sz="2150" spc="-110" dirty="0">
                <a:latin typeface="Verdana"/>
                <a:cs typeface="Verdana"/>
              </a:rPr>
              <a:t> </a:t>
            </a:r>
            <a:r>
              <a:rPr sz="2150" spc="-30" dirty="0">
                <a:latin typeface="Verdana"/>
                <a:cs typeface="Verdana"/>
              </a:rPr>
              <a:t>signals</a:t>
            </a:r>
            <a:r>
              <a:rPr sz="2150" spc="-105" dirty="0">
                <a:latin typeface="Verdana"/>
                <a:cs typeface="Verdana"/>
              </a:rPr>
              <a:t> </a:t>
            </a:r>
            <a:r>
              <a:rPr sz="2150" spc="-20" dirty="0">
                <a:latin typeface="Verdana"/>
                <a:cs typeface="Verdana"/>
              </a:rPr>
              <a:t>into </a:t>
            </a:r>
            <a:r>
              <a:rPr sz="2150" dirty="0">
                <a:latin typeface="Verdana"/>
                <a:cs typeface="Verdana"/>
              </a:rPr>
              <a:t>mechanical</a:t>
            </a:r>
            <a:r>
              <a:rPr sz="2150" spc="114" dirty="0">
                <a:latin typeface="Verdana"/>
                <a:cs typeface="Verdana"/>
              </a:rPr>
              <a:t> </a:t>
            </a:r>
            <a:r>
              <a:rPr sz="2150" spc="-10" dirty="0">
                <a:latin typeface="Verdana"/>
                <a:cs typeface="Verdana"/>
              </a:rPr>
              <a:t>motion.</a:t>
            </a:r>
            <a:endParaRPr sz="2150">
              <a:latin typeface="Verdana"/>
              <a:cs typeface="Verdana"/>
            </a:endParaRPr>
          </a:p>
          <a:p>
            <a:pPr marL="12700" marR="37465">
              <a:lnSpc>
                <a:spcPct val="116300"/>
              </a:lnSpc>
            </a:pPr>
            <a:r>
              <a:rPr sz="2150" dirty="0">
                <a:latin typeface="Verdana"/>
                <a:cs typeface="Verdana"/>
              </a:rPr>
              <a:t>Power</a:t>
            </a:r>
            <a:r>
              <a:rPr sz="2150" spc="-50" dirty="0">
                <a:latin typeface="Verdana"/>
                <a:cs typeface="Verdana"/>
              </a:rPr>
              <a:t> </a:t>
            </a:r>
            <a:r>
              <a:rPr sz="2150" dirty="0">
                <a:latin typeface="Verdana"/>
                <a:cs typeface="Verdana"/>
              </a:rPr>
              <a:t>management</a:t>
            </a:r>
            <a:r>
              <a:rPr sz="2150" spc="-45" dirty="0">
                <a:latin typeface="Verdana"/>
                <a:cs typeface="Verdana"/>
              </a:rPr>
              <a:t> </a:t>
            </a:r>
            <a:r>
              <a:rPr sz="2150" spc="-50" dirty="0">
                <a:latin typeface="Verdana"/>
                <a:cs typeface="Verdana"/>
              </a:rPr>
              <a:t>plays </a:t>
            </a:r>
            <a:r>
              <a:rPr sz="2150" dirty="0">
                <a:latin typeface="Verdana"/>
                <a:cs typeface="Verdana"/>
              </a:rPr>
              <a:t>an</a:t>
            </a:r>
            <a:r>
              <a:rPr sz="2150" spc="-45" dirty="0">
                <a:latin typeface="Verdana"/>
                <a:cs typeface="Verdana"/>
              </a:rPr>
              <a:t> </a:t>
            </a:r>
            <a:r>
              <a:rPr sz="2150" dirty="0">
                <a:latin typeface="Verdana"/>
                <a:cs typeface="Verdana"/>
              </a:rPr>
              <a:t>important</a:t>
            </a:r>
            <a:r>
              <a:rPr sz="2150" spc="-45" dirty="0">
                <a:latin typeface="Verdana"/>
                <a:cs typeface="Verdana"/>
              </a:rPr>
              <a:t> </a:t>
            </a:r>
            <a:r>
              <a:rPr sz="2150" spc="-10" dirty="0">
                <a:latin typeface="Verdana"/>
                <a:cs typeface="Verdana"/>
              </a:rPr>
              <a:t>role</a:t>
            </a:r>
            <a:r>
              <a:rPr sz="2150" spc="-50" dirty="0">
                <a:latin typeface="Verdana"/>
                <a:cs typeface="Verdana"/>
              </a:rPr>
              <a:t> </a:t>
            </a:r>
            <a:r>
              <a:rPr sz="2150" dirty="0">
                <a:latin typeface="Verdana"/>
                <a:cs typeface="Verdana"/>
              </a:rPr>
              <a:t>in</a:t>
            </a:r>
            <a:r>
              <a:rPr sz="2150" spc="-45" dirty="0">
                <a:latin typeface="Verdana"/>
                <a:cs typeface="Verdana"/>
              </a:rPr>
              <a:t> </a:t>
            </a:r>
            <a:r>
              <a:rPr sz="2150" dirty="0">
                <a:latin typeface="Verdana"/>
                <a:cs typeface="Verdana"/>
              </a:rPr>
              <a:t>maintaining</a:t>
            </a:r>
            <a:r>
              <a:rPr sz="2150" spc="-50" dirty="0">
                <a:latin typeface="Verdana"/>
                <a:cs typeface="Verdana"/>
              </a:rPr>
              <a:t> </a:t>
            </a:r>
            <a:r>
              <a:rPr sz="2150" spc="-10" dirty="0">
                <a:latin typeface="Verdana"/>
                <a:cs typeface="Verdana"/>
              </a:rPr>
              <a:t>consistent </a:t>
            </a:r>
            <a:r>
              <a:rPr sz="2150" dirty="0">
                <a:latin typeface="Verdana"/>
                <a:cs typeface="Verdana"/>
              </a:rPr>
              <a:t>performance</a:t>
            </a:r>
            <a:r>
              <a:rPr sz="2150" spc="-125" dirty="0">
                <a:latin typeface="Verdana"/>
                <a:cs typeface="Verdana"/>
              </a:rPr>
              <a:t> </a:t>
            </a:r>
            <a:r>
              <a:rPr sz="2150" dirty="0">
                <a:latin typeface="Verdana"/>
                <a:cs typeface="Verdana"/>
              </a:rPr>
              <a:t>of</a:t>
            </a:r>
            <a:r>
              <a:rPr sz="2150" spc="-120" dirty="0">
                <a:latin typeface="Verdana"/>
                <a:cs typeface="Verdana"/>
              </a:rPr>
              <a:t> </a:t>
            </a:r>
            <a:r>
              <a:rPr sz="2150" dirty="0">
                <a:latin typeface="Verdana"/>
                <a:cs typeface="Verdana"/>
              </a:rPr>
              <a:t>the</a:t>
            </a:r>
            <a:r>
              <a:rPr sz="2150" spc="-125" dirty="0">
                <a:latin typeface="Verdana"/>
                <a:cs typeface="Verdana"/>
              </a:rPr>
              <a:t> </a:t>
            </a:r>
            <a:r>
              <a:rPr sz="2150" dirty="0">
                <a:latin typeface="Verdana"/>
                <a:cs typeface="Verdana"/>
              </a:rPr>
              <a:t>motors</a:t>
            </a:r>
            <a:r>
              <a:rPr sz="2150" spc="-125" dirty="0">
                <a:latin typeface="Verdana"/>
                <a:cs typeface="Verdana"/>
              </a:rPr>
              <a:t> </a:t>
            </a:r>
            <a:r>
              <a:rPr sz="2150" dirty="0">
                <a:latin typeface="Verdana"/>
                <a:cs typeface="Verdana"/>
              </a:rPr>
              <a:t>and</a:t>
            </a:r>
            <a:r>
              <a:rPr sz="2150" spc="-120" dirty="0">
                <a:latin typeface="Verdana"/>
                <a:cs typeface="Verdana"/>
              </a:rPr>
              <a:t> </a:t>
            </a:r>
            <a:r>
              <a:rPr sz="2150" spc="-55" dirty="0">
                <a:latin typeface="Verdana"/>
                <a:cs typeface="Verdana"/>
              </a:rPr>
              <a:t>receiver</a:t>
            </a:r>
            <a:r>
              <a:rPr sz="2150" spc="-125" dirty="0">
                <a:latin typeface="Verdana"/>
                <a:cs typeface="Verdana"/>
              </a:rPr>
              <a:t> </a:t>
            </a:r>
            <a:r>
              <a:rPr sz="2150" spc="-10" dirty="0">
                <a:latin typeface="Verdana"/>
                <a:cs typeface="Verdana"/>
              </a:rPr>
              <a:t>module.</a:t>
            </a:r>
            <a:endParaRPr sz="2150">
              <a:latin typeface="Verdana"/>
              <a:cs typeface="Verdana"/>
            </a:endParaRPr>
          </a:p>
          <a:p>
            <a:pPr marL="12700" marR="681990">
              <a:lnSpc>
                <a:spcPct val="116300"/>
              </a:lnSpc>
            </a:pPr>
            <a:r>
              <a:rPr sz="2150" spc="-60" dirty="0">
                <a:latin typeface="Verdana"/>
                <a:cs typeface="Verdana"/>
              </a:rPr>
              <a:t>The</a:t>
            </a:r>
            <a:r>
              <a:rPr sz="2150" spc="-110" dirty="0">
                <a:latin typeface="Verdana"/>
                <a:cs typeface="Verdana"/>
              </a:rPr>
              <a:t> </a:t>
            </a:r>
            <a:r>
              <a:rPr sz="2150" spc="-75" dirty="0">
                <a:latin typeface="Verdana"/>
                <a:cs typeface="Verdana"/>
              </a:rPr>
              <a:t>car’s</a:t>
            </a:r>
            <a:r>
              <a:rPr sz="2150" spc="-105" dirty="0">
                <a:latin typeface="Verdana"/>
                <a:cs typeface="Verdana"/>
              </a:rPr>
              <a:t> </a:t>
            </a:r>
            <a:r>
              <a:rPr sz="2150" dirty="0">
                <a:latin typeface="Verdana"/>
                <a:cs typeface="Verdana"/>
              </a:rPr>
              <a:t>movement</a:t>
            </a:r>
            <a:r>
              <a:rPr sz="2150" spc="-105" dirty="0">
                <a:latin typeface="Verdana"/>
                <a:cs typeface="Verdana"/>
              </a:rPr>
              <a:t> </a:t>
            </a:r>
            <a:r>
              <a:rPr sz="2150" spc="-25" dirty="0">
                <a:latin typeface="Verdana"/>
                <a:cs typeface="Verdana"/>
              </a:rPr>
              <a:t>accuracy</a:t>
            </a:r>
            <a:r>
              <a:rPr sz="2150" spc="-105" dirty="0">
                <a:latin typeface="Verdana"/>
                <a:cs typeface="Verdana"/>
              </a:rPr>
              <a:t> </a:t>
            </a:r>
            <a:r>
              <a:rPr sz="2150" dirty="0">
                <a:latin typeface="Verdana"/>
                <a:cs typeface="Verdana"/>
              </a:rPr>
              <a:t>depends</a:t>
            </a:r>
            <a:r>
              <a:rPr sz="2150" spc="-105" dirty="0">
                <a:latin typeface="Verdana"/>
                <a:cs typeface="Verdana"/>
              </a:rPr>
              <a:t> </a:t>
            </a:r>
            <a:r>
              <a:rPr sz="2150" dirty="0">
                <a:latin typeface="Verdana"/>
                <a:cs typeface="Verdana"/>
              </a:rPr>
              <a:t>on</a:t>
            </a:r>
            <a:r>
              <a:rPr sz="2150" spc="-105" dirty="0">
                <a:latin typeface="Verdana"/>
                <a:cs typeface="Verdana"/>
              </a:rPr>
              <a:t> </a:t>
            </a:r>
            <a:r>
              <a:rPr sz="2150" dirty="0">
                <a:latin typeface="Verdana"/>
                <a:cs typeface="Verdana"/>
              </a:rPr>
              <a:t>proper</a:t>
            </a:r>
            <a:r>
              <a:rPr sz="2150" spc="-105" dirty="0">
                <a:latin typeface="Verdana"/>
                <a:cs typeface="Verdana"/>
              </a:rPr>
              <a:t> </a:t>
            </a:r>
            <a:r>
              <a:rPr sz="2150" spc="-10" dirty="0">
                <a:latin typeface="Verdana"/>
                <a:cs typeface="Verdana"/>
              </a:rPr>
              <a:t>synchronization </a:t>
            </a:r>
            <a:r>
              <a:rPr sz="2150" dirty="0">
                <a:latin typeface="Verdana"/>
                <a:cs typeface="Verdana"/>
              </a:rPr>
              <a:t>between</a:t>
            </a:r>
            <a:r>
              <a:rPr sz="2150" spc="-85" dirty="0">
                <a:latin typeface="Verdana"/>
                <a:cs typeface="Verdana"/>
              </a:rPr>
              <a:t> </a:t>
            </a:r>
            <a:r>
              <a:rPr sz="2150" spc="-20" dirty="0">
                <a:latin typeface="Verdana"/>
                <a:cs typeface="Verdana"/>
              </a:rPr>
              <a:t>transmitter</a:t>
            </a:r>
            <a:r>
              <a:rPr sz="2150" spc="-85" dirty="0">
                <a:latin typeface="Verdana"/>
                <a:cs typeface="Verdana"/>
              </a:rPr>
              <a:t> </a:t>
            </a:r>
            <a:r>
              <a:rPr sz="2150" dirty="0">
                <a:latin typeface="Verdana"/>
                <a:cs typeface="Verdana"/>
              </a:rPr>
              <a:t>inputs</a:t>
            </a:r>
            <a:r>
              <a:rPr sz="2150" spc="-85" dirty="0">
                <a:latin typeface="Verdana"/>
                <a:cs typeface="Verdana"/>
              </a:rPr>
              <a:t> </a:t>
            </a:r>
            <a:r>
              <a:rPr sz="2150" dirty="0">
                <a:latin typeface="Verdana"/>
                <a:cs typeface="Verdana"/>
              </a:rPr>
              <a:t>and</a:t>
            </a:r>
            <a:r>
              <a:rPr sz="2150" spc="-85" dirty="0">
                <a:latin typeface="Verdana"/>
                <a:cs typeface="Verdana"/>
              </a:rPr>
              <a:t> </a:t>
            </a:r>
            <a:r>
              <a:rPr sz="2150" spc="-55" dirty="0">
                <a:latin typeface="Verdana"/>
                <a:cs typeface="Verdana"/>
              </a:rPr>
              <a:t>receiver</a:t>
            </a:r>
            <a:r>
              <a:rPr sz="2150" spc="-80" dirty="0">
                <a:latin typeface="Verdana"/>
                <a:cs typeface="Verdana"/>
              </a:rPr>
              <a:t> </a:t>
            </a:r>
            <a:r>
              <a:rPr sz="2150" spc="-10" dirty="0">
                <a:latin typeface="Verdana"/>
                <a:cs typeface="Verdana"/>
              </a:rPr>
              <a:t>responses.</a:t>
            </a:r>
            <a:endParaRPr sz="2150">
              <a:latin typeface="Verdana"/>
              <a:cs typeface="Verdan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940933" y="3403370"/>
            <a:ext cx="5667374" cy="3476624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4417" rIns="0" bIns="0" rtlCol="0">
            <a:spAutoFit/>
          </a:bodyPr>
          <a:lstStyle/>
          <a:p>
            <a:pPr marL="1516380">
              <a:lnSpc>
                <a:spcPct val="100000"/>
              </a:lnSpc>
              <a:spcBef>
                <a:spcPts val="125"/>
              </a:spcBef>
            </a:pPr>
            <a:r>
              <a:rPr spc="40" dirty="0"/>
              <a:t>ANALYSIS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29717" y="339439"/>
            <a:ext cx="4149090" cy="1271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80" dirty="0"/>
              <a:t>RESULT</a:t>
            </a:r>
          </a:p>
        </p:txBody>
      </p:sp>
      <p:sp>
        <p:nvSpPr>
          <p:cNvPr id="3" name="object 3"/>
          <p:cNvSpPr/>
          <p:nvPr/>
        </p:nvSpPr>
        <p:spPr>
          <a:xfrm>
            <a:off x="4541415" y="9464179"/>
            <a:ext cx="11673205" cy="0"/>
          </a:xfrm>
          <a:custGeom>
            <a:avLst/>
            <a:gdLst/>
            <a:ahLst/>
            <a:cxnLst/>
            <a:rect l="l" t="t" r="r" b="b"/>
            <a:pathLst>
              <a:path w="11673205">
                <a:moveTo>
                  <a:pt x="0" y="0"/>
                </a:moveTo>
                <a:lnTo>
                  <a:pt x="11672840" y="0"/>
                </a:lnTo>
              </a:path>
            </a:pathLst>
          </a:custGeom>
          <a:ln w="9524">
            <a:solidFill>
              <a:srgbClr val="53535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899" y="2038350"/>
            <a:ext cx="123825" cy="1238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899" y="3105149"/>
            <a:ext cx="123825" cy="1238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899" y="4171949"/>
            <a:ext cx="123825" cy="1238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899" y="5238749"/>
            <a:ext cx="123825" cy="1238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899" y="5772149"/>
            <a:ext cx="123825" cy="123824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-2042" y="6526097"/>
            <a:ext cx="3910329" cy="3761104"/>
            <a:chOff x="-2042" y="6526097"/>
            <a:chExt cx="3910329" cy="3761104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2042" y="6526097"/>
              <a:ext cx="3910147" cy="376090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2899" y="6838949"/>
              <a:ext cx="123825" cy="12382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2899" y="7372350"/>
              <a:ext cx="123825" cy="12382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2899" y="8439149"/>
              <a:ext cx="123825" cy="123824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634999" y="1749425"/>
            <a:ext cx="17646650" cy="7493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75260">
              <a:lnSpc>
                <a:spcPct val="116700"/>
              </a:lnSpc>
              <a:spcBef>
                <a:spcPts val="95"/>
              </a:spcBef>
            </a:pPr>
            <a:r>
              <a:rPr sz="3000" spc="-80" dirty="0">
                <a:latin typeface="Verdana"/>
                <a:cs typeface="Verdana"/>
              </a:rPr>
              <a:t>The</a:t>
            </a:r>
            <a:r>
              <a:rPr sz="3000" spc="-175" dirty="0">
                <a:latin typeface="Verdana"/>
                <a:cs typeface="Verdana"/>
              </a:rPr>
              <a:t> </a:t>
            </a:r>
            <a:r>
              <a:rPr sz="3000" spc="-75" dirty="0">
                <a:latin typeface="Verdana"/>
                <a:cs typeface="Verdana"/>
              </a:rPr>
              <a:t>RF-</a:t>
            </a:r>
            <a:r>
              <a:rPr sz="3000" dirty="0">
                <a:latin typeface="Verdana"/>
                <a:cs typeface="Verdana"/>
              </a:rPr>
              <a:t>controlled</a:t>
            </a:r>
            <a:r>
              <a:rPr sz="3000" spc="-165" dirty="0">
                <a:latin typeface="Verdana"/>
                <a:cs typeface="Verdana"/>
              </a:rPr>
              <a:t> </a:t>
            </a:r>
            <a:r>
              <a:rPr sz="3000" spc="-35" dirty="0">
                <a:latin typeface="Verdana"/>
                <a:cs typeface="Verdana"/>
              </a:rPr>
              <a:t>car</a:t>
            </a:r>
            <a:r>
              <a:rPr sz="3000" spc="-165" dirty="0">
                <a:latin typeface="Verdana"/>
                <a:cs typeface="Verdana"/>
              </a:rPr>
              <a:t> </a:t>
            </a:r>
            <a:r>
              <a:rPr sz="3000" spc="-10" dirty="0">
                <a:latin typeface="Verdana"/>
                <a:cs typeface="Verdana"/>
              </a:rPr>
              <a:t>was</a:t>
            </a:r>
            <a:r>
              <a:rPr sz="3000" spc="-160" dirty="0">
                <a:latin typeface="Verdana"/>
                <a:cs typeface="Verdana"/>
              </a:rPr>
              <a:t> </a:t>
            </a:r>
            <a:r>
              <a:rPr sz="3000" spc="-30" dirty="0">
                <a:latin typeface="Verdana"/>
                <a:cs typeface="Verdana"/>
              </a:rPr>
              <a:t>successfully</a:t>
            </a:r>
            <a:r>
              <a:rPr sz="3000" spc="-165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designed</a:t>
            </a:r>
            <a:r>
              <a:rPr sz="3000" spc="-165" dirty="0">
                <a:latin typeface="Verdana"/>
                <a:cs typeface="Verdana"/>
              </a:rPr>
              <a:t> </a:t>
            </a:r>
            <a:r>
              <a:rPr sz="3000" spc="60" dirty="0">
                <a:latin typeface="Verdana"/>
                <a:cs typeface="Verdana"/>
              </a:rPr>
              <a:t>and</a:t>
            </a:r>
            <a:r>
              <a:rPr sz="3000" spc="-165" dirty="0">
                <a:latin typeface="Verdana"/>
                <a:cs typeface="Verdana"/>
              </a:rPr>
              <a:t> </a:t>
            </a:r>
            <a:r>
              <a:rPr sz="3000" spc="70" dirty="0">
                <a:latin typeface="Verdana"/>
                <a:cs typeface="Verdana"/>
              </a:rPr>
              <a:t>implemented</a:t>
            </a:r>
            <a:r>
              <a:rPr sz="3000" spc="-160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using</a:t>
            </a:r>
            <a:r>
              <a:rPr sz="3000" spc="-165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RF</a:t>
            </a:r>
            <a:r>
              <a:rPr sz="3000" spc="-165" dirty="0">
                <a:latin typeface="Verdana"/>
                <a:cs typeface="Verdana"/>
              </a:rPr>
              <a:t> </a:t>
            </a:r>
            <a:r>
              <a:rPr sz="3000" spc="-20" dirty="0">
                <a:latin typeface="Verdana"/>
                <a:cs typeface="Verdana"/>
              </a:rPr>
              <a:t>transmitter</a:t>
            </a:r>
            <a:r>
              <a:rPr sz="3000" spc="-160" dirty="0">
                <a:latin typeface="Verdana"/>
                <a:cs typeface="Verdana"/>
              </a:rPr>
              <a:t> </a:t>
            </a:r>
            <a:r>
              <a:rPr sz="3000" spc="35" dirty="0">
                <a:latin typeface="Verdana"/>
                <a:cs typeface="Verdana"/>
              </a:rPr>
              <a:t>and </a:t>
            </a:r>
            <a:r>
              <a:rPr sz="3000" spc="-70" dirty="0">
                <a:latin typeface="Verdana"/>
                <a:cs typeface="Verdana"/>
              </a:rPr>
              <a:t>receiver</a:t>
            </a:r>
            <a:r>
              <a:rPr sz="3000" spc="-185" dirty="0">
                <a:latin typeface="Verdana"/>
                <a:cs typeface="Verdana"/>
              </a:rPr>
              <a:t> </a:t>
            </a:r>
            <a:r>
              <a:rPr sz="3000" spc="-10" dirty="0">
                <a:latin typeface="Verdana"/>
                <a:cs typeface="Verdana"/>
              </a:rPr>
              <a:t>modules.</a:t>
            </a:r>
            <a:endParaRPr sz="3000">
              <a:latin typeface="Verdana"/>
              <a:cs typeface="Verdana"/>
            </a:endParaRPr>
          </a:p>
          <a:p>
            <a:pPr marL="12700" marR="5080">
              <a:lnSpc>
                <a:spcPts val="4200"/>
              </a:lnSpc>
              <a:spcBef>
                <a:spcPts val="240"/>
              </a:spcBef>
            </a:pPr>
            <a:r>
              <a:rPr sz="3000" spc="-80" dirty="0">
                <a:latin typeface="Verdana"/>
                <a:cs typeface="Verdana"/>
              </a:rPr>
              <a:t>The</a:t>
            </a:r>
            <a:r>
              <a:rPr sz="3000" spc="-190" dirty="0">
                <a:latin typeface="Verdana"/>
                <a:cs typeface="Verdana"/>
              </a:rPr>
              <a:t> </a:t>
            </a:r>
            <a:r>
              <a:rPr sz="3000" spc="-35" dirty="0">
                <a:latin typeface="Verdana"/>
                <a:cs typeface="Verdana"/>
              </a:rPr>
              <a:t>car</a:t>
            </a:r>
            <a:r>
              <a:rPr sz="3000" spc="-175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responded</a:t>
            </a:r>
            <a:r>
              <a:rPr sz="3000" spc="-175" dirty="0">
                <a:latin typeface="Verdana"/>
                <a:cs typeface="Verdana"/>
              </a:rPr>
              <a:t> </a:t>
            </a:r>
            <a:r>
              <a:rPr sz="3000" spc="-25" dirty="0">
                <a:latin typeface="Verdana"/>
                <a:cs typeface="Verdana"/>
              </a:rPr>
              <a:t>accurately</a:t>
            </a:r>
            <a:r>
              <a:rPr sz="3000" spc="-175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to</a:t>
            </a:r>
            <a:r>
              <a:rPr sz="3000" spc="-175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remote</a:t>
            </a:r>
            <a:r>
              <a:rPr sz="3000" spc="-175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control</a:t>
            </a:r>
            <a:r>
              <a:rPr sz="3000" spc="-180" dirty="0">
                <a:latin typeface="Verdana"/>
                <a:cs typeface="Verdana"/>
              </a:rPr>
              <a:t> </a:t>
            </a:r>
            <a:r>
              <a:rPr sz="3000" spc="65" dirty="0">
                <a:latin typeface="Verdana"/>
                <a:cs typeface="Verdana"/>
              </a:rPr>
              <a:t>commands</a:t>
            </a:r>
            <a:r>
              <a:rPr sz="3000" spc="-175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such</a:t>
            </a:r>
            <a:r>
              <a:rPr sz="3000" spc="-175" dirty="0">
                <a:latin typeface="Verdana"/>
                <a:cs typeface="Verdana"/>
              </a:rPr>
              <a:t> </a:t>
            </a:r>
            <a:r>
              <a:rPr sz="3000" spc="-114" dirty="0">
                <a:latin typeface="Verdana"/>
                <a:cs typeface="Verdana"/>
              </a:rPr>
              <a:t>as</a:t>
            </a:r>
            <a:r>
              <a:rPr sz="3000" spc="-175" dirty="0">
                <a:latin typeface="Verdana"/>
                <a:cs typeface="Verdana"/>
              </a:rPr>
              <a:t> </a:t>
            </a:r>
            <a:r>
              <a:rPr sz="3000" spc="-40" dirty="0">
                <a:latin typeface="Verdana"/>
                <a:cs typeface="Verdana"/>
              </a:rPr>
              <a:t>forward,</a:t>
            </a:r>
            <a:r>
              <a:rPr sz="3000" spc="-175" dirty="0">
                <a:latin typeface="Verdana"/>
                <a:cs typeface="Verdana"/>
              </a:rPr>
              <a:t> </a:t>
            </a:r>
            <a:r>
              <a:rPr sz="3000" spc="-160" dirty="0">
                <a:latin typeface="Verdana"/>
                <a:cs typeface="Verdana"/>
              </a:rPr>
              <a:t>reverse,</a:t>
            </a:r>
            <a:r>
              <a:rPr sz="3000" spc="-175" dirty="0">
                <a:latin typeface="Verdana"/>
                <a:cs typeface="Verdana"/>
              </a:rPr>
              <a:t> </a:t>
            </a:r>
            <a:r>
              <a:rPr sz="3000" spc="-80" dirty="0">
                <a:latin typeface="Verdana"/>
                <a:cs typeface="Verdana"/>
              </a:rPr>
              <a:t>left,</a:t>
            </a:r>
            <a:r>
              <a:rPr sz="3000" spc="-175" dirty="0">
                <a:latin typeface="Verdana"/>
                <a:cs typeface="Verdana"/>
              </a:rPr>
              <a:t> </a:t>
            </a:r>
            <a:r>
              <a:rPr sz="3000" spc="35" dirty="0">
                <a:latin typeface="Verdana"/>
                <a:cs typeface="Verdana"/>
              </a:rPr>
              <a:t>and </a:t>
            </a:r>
            <a:r>
              <a:rPr sz="3000" spc="-10" dirty="0">
                <a:latin typeface="Verdana"/>
                <a:cs typeface="Verdana"/>
              </a:rPr>
              <a:t>right.</a:t>
            </a:r>
            <a:endParaRPr sz="3000">
              <a:latin typeface="Verdana"/>
              <a:cs typeface="Verdana"/>
            </a:endParaRPr>
          </a:p>
          <a:p>
            <a:pPr marL="12700" marR="141605">
              <a:lnSpc>
                <a:spcPts val="4200"/>
              </a:lnSpc>
            </a:pPr>
            <a:r>
              <a:rPr sz="3000" spc="-80" dirty="0">
                <a:latin typeface="Verdana"/>
                <a:cs typeface="Verdana"/>
              </a:rPr>
              <a:t>The</a:t>
            </a:r>
            <a:r>
              <a:rPr sz="3000" spc="-160" dirty="0">
                <a:latin typeface="Verdana"/>
                <a:cs typeface="Verdana"/>
              </a:rPr>
              <a:t> </a:t>
            </a:r>
            <a:r>
              <a:rPr sz="3000" spc="-30" dirty="0">
                <a:latin typeface="Verdana"/>
                <a:cs typeface="Verdana"/>
              </a:rPr>
              <a:t>wireless</a:t>
            </a:r>
            <a:r>
              <a:rPr sz="3000" spc="-155" dirty="0">
                <a:latin typeface="Verdana"/>
                <a:cs typeface="Verdana"/>
              </a:rPr>
              <a:t> </a:t>
            </a:r>
            <a:r>
              <a:rPr sz="3000" spc="60" dirty="0">
                <a:latin typeface="Verdana"/>
                <a:cs typeface="Verdana"/>
              </a:rPr>
              <a:t>communication</a:t>
            </a:r>
            <a:r>
              <a:rPr sz="3000" spc="-155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between</a:t>
            </a:r>
            <a:r>
              <a:rPr sz="3000" spc="-160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the</a:t>
            </a:r>
            <a:r>
              <a:rPr sz="3000" spc="-155" dirty="0">
                <a:latin typeface="Verdana"/>
                <a:cs typeface="Verdana"/>
              </a:rPr>
              <a:t> </a:t>
            </a:r>
            <a:r>
              <a:rPr sz="3000" spc="-20" dirty="0">
                <a:latin typeface="Verdana"/>
                <a:cs typeface="Verdana"/>
              </a:rPr>
              <a:t>transmitter</a:t>
            </a:r>
            <a:r>
              <a:rPr sz="3000" spc="-155" dirty="0">
                <a:latin typeface="Verdana"/>
                <a:cs typeface="Verdana"/>
              </a:rPr>
              <a:t> </a:t>
            </a:r>
            <a:r>
              <a:rPr sz="3000" spc="60" dirty="0">
                <a:latin typeface="Verdana"/>
                <a:cs typeface="Verdana"/>
              </a:rPr>
              <a:t>and</a:t>
            </a:r>
            <a:r>
              <a:rPr sz="3000" spc="-160" dirty="0">
                <a:latin typeface="Verdana"/>
                <a:cs typeface="Verdana"/>
              </a:rPr>
              <a:t> </a:t>
            </a:r>
            <a:r>
              <a:rPr sz="3000" spc="-70" dirty="0">
                <a:latin typeface="Verdana"/>
                <a:cs typeface="Verdana"/>
              </a:rPr>
              <a:t>receiver</a:t>
            </a:r>
            <a:r>
              <a:rPr sz="3000" spc="-155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worked</a:t>
            </a:r>
            <a:r>
              <a:rPr sz="3000" spc="-155" dirty="0">
                <a:latin typeface="Verdana"/>
                <a:cs typeface="Verdana"/>
              </a:rPr>
              <a:t> </a:t>
            </a:r>
            <a:r>
              <a:rPr sz="3000" spc="-40" dirty="0">
                <a:latin typeface="Verdana"/>
                <a:cs typeface="Verdana"/>
              </a:rPr>
              <a:t>effectively</a:t>
            </a:r>
            <a:r>
              <a:rPr sz="3000" spc="-160" dirty="0">
                <a:latin typeface="Verdana"/>
                <a:cs typeface="Verdana"/>
              </a:rPr>
              <a:t> </a:t>
            </a:r>
            <a:r>
              <a:rPr sz="3000" spc="65" dirty="0">
                <a:latin typeface="Verdana"/>
                <a:cs typeface="Verdana"/>
              </a:rPr>
              <a:t>within </a:t>
            </a:r>
            <a:r>
              <a:rPr sz="3000" spc="-60" dirty="0">
                <a:latin typeface="Verdana"/>
                <a:cs typeface="Verdana"/>
              </a:rPr>
              <a:t>a</a:t>
            </a:r>
            <a:r>
              <a:rPr sz="3000" spc="-185" dirty="0">
                <a:latin typeface="Verdana"/>
                <a:cs typeface="Verdana"/>
              </a:rPr>
              <a:t> </a:t>
            </a:r>
            <a:r>
              <a:rPr sz="3000" spc="-35" dirty="0">
                <a:latin typeface="Verdana"/>
                <a:cs typeface="Verdana"/>
              </a:rPr>
              <a:t>range</a:t>
            </a:r>
            <a:r>
              <a:rPr sz="3000" spc="-185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of</a:t>
            </a:r>
            <a:r>
              <a:rPr sz="3000" spc="-185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about</a:t>
            </a:r>
            <a:r>
              <a:rPr sz="3000" spc="-185" dirty="0">
                <a:latin typeface="Verdana"/>
                <a:cs typeface="Verdana"/>
              </a:rPr>
              <a:t> </a:t>
            </a:r>
            <a:r>
              <a:rPr sz="3000" spc="-114" dirty="0">
                <a:latin typeface="Verdana"/>
                <a:cs typeface="Verdana"/>
              </a:rPr>
              <a:t>30–50</a:t>
            </a:r>
            <a:r>
              <a:rPr sz="3000" spc="-185" dirty="0">
                <a:latin typeface="Verdana"/>
                <a:cs typeface="Verdana"/>
              </a:rPr>
              <a:t> </a:t>
            </a:r>
            <a:r>
              <a:rPr sz="3000" spc="-10" dirty="0">
                <a:latin typeface="Verdana"/>
                <a:cs typeface="Verdana"/>
              </a:rPr>
              <a:t>meters.</a:t>
            </a:r>
            <a:endParaRPr sz="3000">
              <a:latin typeface="Verdana"/>
              <a:cs typeface="Verdana"/>
            </a:endParaRPr>
          </a:p>
          <a:p>
            <a:pPr marL="12700" marR="287020">
              <a:lnSpc>
                <a:spcPts val="4200"/>
              </a:lnSpc>
            </a:pPr>
            <a:r>
              <a:rPr sz="3000" spc="-80" dirty="0">
                <a:latin typeface="Verdana"/>
                <a:cs typeface="Verdana"/>
              </a:rPr>
              <a:t>The</a:t>
            </a:r>
            <a:r>
              <a:rPr sz="3000" spc="-150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motor</a:t>
            </a:r>
            <a:r>
              <a:rPr sz="3000" spc="-145" dirty="0">
                <a:latin typeface="Verdana"/>
                <a:cs typeface="Verdana"/>
              </a:rPr>
              <a:t> </a:t>
            </a:r>
            <a:r>
              <a:rPr sz="3000" spc="-60" dirty="0">
                <a:latin typeface="Verdana"/>
                <a:cs typeface="Verdana"/>
              </a:rPr>
              <a:t>driver</a:t>
            </a:r>
            <a:r>
              <a:rPr sz="3000" spc="-150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circuit</a:t>
            </a:r>
            <a:r>
              <a:rPr sz="3000" spc="-145" dirty="0">
                <a:latin typeface="Verdana"/>
                <a:cs typeface="Verdana"/>
              </a:rPr>
              <a:t> </a:t>
            </a:r>
            <a:r>
              <a:rPr sz="3000" spc="55" dirty="0">
                <a:latin typeface="Verdana"/>
                <a:cs typeface="Verdana"/>
              </a:rPr>
              <a:t>functioned</a:t>
            </a:r>
            <a:r>
              <a:rPr sz="3000" spc="-145" dirty="0">
                <a:latin typeface="Verdana"/>
                <a:cs typeface="Verdana"/>
              </a:rPr>
              <a:t> </a:t>
            </a:r>
            <a:r>
              <a:rPr sz="3000" spc="-60" dirty="0">
                <a:latin typeface="Verdana"/>
                <a:cs typeface="Verdana"/>
              </a:rPr>
              <a:t>properly,</a:t>
            </a:r>
            <a:r>
              <a:rPr sz="3000" spc="-150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providing</a:t>
            </a:r>
            <a:r>
              <a:rPr sz="3000" spc="-145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smooth</a:t>
            </a:r>
            <a:r>
              <a:rPr sz="3000" spc="-150" dirty="0">
                <a:latin typeface="Verdana"/>
                <a:cs typeface="Verdana"/>
              </a:rPr>
              <a:t> </a:t>
            </a:r>
            <a:r>
              <a:rPr sz="3000" spc="60" dirty="0">
                <a:latin typeface="Verdana"/>
                <a:cs typeface="Verdana"/>
              </a:rPr>
              <a:t>and</a:t>
            </a:r>
            <a:r>
              <a:rPr sz="3000" spc="-145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stable</a:t>
            </a:r>
            <a:r>
              <a:rPr sz="3000" spc="-145" dirty="0">
                <a:latin typeface="Verdana"/>
                <a:cs typeface="Verdana"/>
              </a:rPr>
              <a:t> </a:t>
            </a:r>
            <a:r>
              <a:rPr sz="3000" spc="-10" dirty="0">
                <a:latin typeface="Verdana"/>
                <a:cs typeface="Verdana"/>
              </a:rPr>
              <a:t>movement. </a:t>
            </a:r>
            <a:r>
              <a:rPr sz="3000" dirty="0">
                <a:latin typeface="Verdana"/>
                <a:cs typeface="Verdana"/>
              </a:rPr>
              <a:t>Power</a:t>
            </a:r>
            <a:r>
              <a:rPr sz="3000" spc="-175" dirty="0">
                <a:latin typeface="Verdana"/>
                <a:cs typeface="Verdana"/>
              </a:rPr>
              <a:t> </a:t>
            </a:r>
            <a:r>
              <a:rPr sz="3000" spc="50" dirty="0">
                <a:latin typeface="Verdana"/>
                <a:cs typeface="Verdana"/>
              </a:rPr>
              <a:t>consumption</a:t>
            </a:r>
            <a:r>
              <a:rPr sz="3000" spc="-175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remained</a:t>
            </a:r>
            <a:r>
              <a:rPr sz="3000" spc="-170" dirty="0">
                <a:latin typeface="Verdana"/>
                <a:cs typeface="Verdana"/>
              </a:rPr>
              <a:t> </a:t>
            </a:r>
            <a:r>
              <a:rPr sz="3000" spc="-50" dirty="0">
                <a:latin typeface="Verdana"/>
                <a:cs typeface="Verdana"/>
              </a:rPr>
              <a:t>low,</a:t>
            </a:r>
            <a:r>
              <a:rPr sz="3000" spc="-175" dirty="0">
                <a:latin typeface="Verdana"/>
                <a:cs typeface="Verdana"/>
              </a:rPr>
              <a:t> </a:t>
            </a:r>
            <a:r>
              <a:rPr sz="3000" spc="60" dirty="0">
                <a:latin typeface="Verdana"/>
                <a:cs typeface="Verdana"/>
              </a:rPr>
              <a:t>and</a:t>
            </a:r>
            <a:r>
              <a:rPr sz="3000" spc="-175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the</a:t>
            </a:r>
            <a:r>
              <a:rPr sz="3000" spc="-170" dirty="0">
                <a:latin typeface="Verdana"/>
                <a:cs typeface="Verdana"/>
              </a:rPr>
              <a:t> </a:t>
            </a:r>
            <a:r>
              <a:rPr sz="3000" spc="-65" dirty="0">
                <a:latin typeface="Verdana"/>
                <a:cs typeface="Verdana"/>
              </a:rPr>
              <a:t>system</a:t>
            </a:r>
            <a:r>
              <a:rPr sz="3000" spc="-175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operated</a:t>
            </a:r>
            <a:r>
              <a:rPr sz="3000" spc="-175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efficiently</a:t>
            </a:r>
            <a:r>
              <a:rPr sz="3000" spc="-170" dirty="0">
                <a:latin typeface="Verdana"/>
                <a:cs typeface="Verdana"/>
              </a:rPr>
              <a:t> </a:t>
            </a:r>
            <a:r>
              <a:rPr sz="3000" spc="90" dirty="0">
                <a:latin typeface="Verdana"/>
                <a:cs typeface="Verdana"/>
              </a:rPr>
              <a:t>with</a:t>
            </a:r>
            <a:r>
              <a:rPr sz="3000" spc="-175" dirty="0">
                <a:latin typeface="Verdana"/>
                <a:cs typeface="Verdana"/>
              </a:rPr>
              <a:t> </a:t>
            </a:r>
            <a:r>
              <a:rPr sz="3000" spc="75" dirty="0">
                <a:latin typeface="Verdana"/>
                <a:cs typeface="Verdana"/>
              </a:rPr>
              <a:t>minimal</a:t>
            </a:r>
            <a:r>
              <a:rPr sz="3000" spc="-170" dirty="0">
                <a:latin typeface="Verdana"/>
                <a:cs typeface="Verdana"/>
              </a:rPr>
              <a:t> </a:t>
            </a:r>
            <a:r>
              <a:rPr sz="3000" spc="-10" dirty="0">
                <a:latin typeface="Verdana"/>
                <a:cs typeface="Verdana"/>
              </a:rPr>
              <a:t>signal delay.</a:t>
            </a:r>
            <a:endParaRPr sz="3000">
              <a:latin typeface="Verdana"/>
              <a:cs typeface="Verdana"/>
            </a:endParaRPr>
          </a:p>
          <a:p>
            <a:pPr marL="12700" marR="146685">
              <a:lnSpc>
                <a:spcPts val="4200"/>
              </a:lnSpc>
            </a:pPr>
            <a:r>
              <a:rPr sz="3000" spc="-80" dirty="0">
                <a:latin typeface="Verdana"/>
                <a:cs typeface="Verdana"/>
              </a:rPr>
              <a:t>The</a:t>
            </a:r>
            <a:r>
              <a:rPr sz="3000" spc="-200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prototype</a:t>
            </a:r>
            <a:r>
              <a:rPr sz="3000" spc="-200" dirty="0">
                <a:latin typeface="Verdana"/>
                <a:cs typeface="Verdana"/>
              </a:rPr>
              <a:t> </a:t>
            </a:r>
            <a:r>
              <a:rPr sz="3000" spc="-25" dirty="0">
                <a:latin typeface="Verdana"/>
                <a:cs typeface="Verdana"/>
              </a:rPr>
              <a:t>proved</a:t>
            </a:r>
            <a:r>
              <a:rPr sz="3000" spc="-195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the</a:t>
            </a:r>
            <a:r>
              <a:rPr sz="3000" spc="-200" dirty="0">
                <a:latin typeface="Verdana"/>
                <a:cs typeface="Verdana"/>
              </a:rPr>
              <a:t> </a:t>
            </a:r>
            <a:r>
              <a:rPr sz="3000" spc="-10" dirty="0">
                <a:latin typeface="Verdana"/>
                <a:cs typeface="Verdana"/>
              </a:rPr>
              <a:t>reliability</a:t>
            </a:r>
            <a:r>
              <a:rPr sz="3000" spc="-195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of</a:t>
            </a:r>
            <a:r>
              <a:rPr sz="3000" spc="-200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RF</a:t>
            </a:r>
            <a:r>
              <a:rPr sz="3000" spc="-195" dirty="0">
                <a:latin typeface="Verdana"/>
                <a:cs typeface="Verdana"/>
              </a:rPr>
              <a:t> </a:t>
            </a:r>
            <a:r>
              <a:rPr sz="3000" spc="60" dirty="0">
                <a:latin typeface="Verdana"/>
                <a:cs typeface="Verdana"/>
              </a:rPr>
              <a:t>communication</a:t>
            </a:r>
            <a:r>
              <a:rPr sz="3000" spc="-200" dirty="0">
                <a:latin typeface="Verdana"/>
                <a:cs typeface="Verdana"/>
              </a:rPr>
              <a:t> </a:t>
            </a:r>
            <a:r>
              <a:rPr sz="3000" spc="-30" dirty="0">
                <a:latin typeface="Verdana"/>
                <a:cs typeface="Verdana"/>
              </a:rPr>
              <a:t>for</a:t>
            </a:r>
            <a:r>
              <a:rPr sz="3000" spc="-195" dirty="0">
                <a:latin typeface="Verdana"/>
                <a:cs typeface="Verdana"/>
              </a:rPr>
              <a:t> </a:t>
            </a:r>
            <a:r>
              <a:rPr sz="3000" spc="-65" dirty="0">
                <a:latin typeface="Verdana"/>
                <a:cs typeface="Verdana"/>
              </a:rPr>
              <a:t>short-</a:t>
            </a:r>
            <a:r>
              <a:rPr sz="3000" spc="-35" dirty="0">
                <a:latin typeface="Verdana"/>
                <a:cs typeface="Verdana"/>
              </a:rPr>
              <a:t>range</a:t>
            </a:r>
            <a:r>
              <a:rPr sz="3000" spc="-200" dirty="0">
                <a:latin typeface="Verdana"/>
                <a:cs typeface="Verdana"/>
              </a:rPr>
              <a:t> </a:t>
            </a:r>
            <a:r>
              <a:rPr sz="3000" spc="-10" dirty="0">
                <a:latin typeface="Verdana"/>
                <a:cs typeface="Verdana"/>
              </a:rPr>
              <a:t>vehicle</a:t>
            </a:r>
            <a:r>
              <a:rPr sz="3000" spc="-195" dirty="0">
                <a:latin typeface="Verdana"/>
                <a:cs typeface="Verdana"/>
              </a:rPr>
              <a:t> </a:t>
            </a:r>
            <a:r>
              <a:rPr sz="3000" spc="-10" dirty="0">
                <a:latin typeface="Verdana"/>
                <a:cs typeface="Verdana"/>
              </a:rPr>
              <a:t>control. </a:t>
            </a:r>
            <a:r>
              <a:rPr sz="3000" spc="-60" dirty="0">
                <a:latin typeface="Verdana"/>
                <a:cs typeface="Verdana"/>
              </a:rPr>
              <a:t>Testing</a:t>
            </a:r>
            <a:r>
              <a:rPr sz="3000" spc="-210" dirty="0">
                <a:latin typeface="Verdana"/>
                <a:cs typeface="Verdana"/>
              </a:rPr>
              <a:t> </a:t>
            </a:r>
            <a:r>
              <a:rPr sz="3000" spc="45" dirty="0">
                <a:latin typeface="Verdana"/>
                <a:cs typeface="Verdana"/>
              </a:rPr>
              <a:t>confirmed</a:t>
            </a:r>
            <a:r>
              <a:rPr sz="3000" spc="-204" dirty="0">
                <a:latin typeface="Verdana"/>
                <a:cs typeface="Verdana"/>
              </a:rPr>
              <a:t> </a:t>
            </a:r>
            <a:r>
              <a:rPr sz="3000" spc="-10" dirty="0">
                <a:latin typeface="Verdana"/>
                <a:cs typeface="Verdana"/>
              </a:rPr>
              <a:t>consistent</a:t>
            </a:r>
            <a:r>
              <a:rPr sz="3000" spc="-204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performance</a:t>
            </a:r>
            <a:r>
              <a:rPr sz="3000" spc="-204" dirty="0">
                <a:latin typeface="Verdana"/>
                <a:cs typeface="Verdana"/>
              </a:rPr>
              <a:t> </a:t>
            </a:r>
            <a:r>
              <a:rPr sz="3000" spc="50" dirty="0">
                <a:latin typeface="Verdana"/>
                <a:cs typeface="Verdana"/>
              </a:rPr>
              <a:t>in</a:t>
            </a:r>
            <a:r>
              <a:rPr sz="3000" spc="-204" dirty="0">
                <a:latin typeface="Verdana"/>
                <a:cs typeface="Verdana"/>
              </a:rPr>
              <a:t> </a:t>
            </a:r>
            <a:r>
              <a:rPr sz="3000" spc="55" dirty="0">
                <a:latin typeface="Verdana"/>
                <a:cs typeface="Verdana"/>
              </a:rPr>
              <a:t>open</a:t>
            </a:r>
            <a:r>
              <a:rPr sz="3000" spc="-204" dirty="0">
                <a:latin typeface="Verdana"/>
                <a:cs typeface="Verdana"/>
              </a:rPr>
              <a:t> </a:t>
            </a:r>
            <a:r>
              <a:rPr sz="3000" spc="-85" dirty="0">
                <a:latin typeface="Verdana"/>
                <a:cs typeface="Verdana"/>
              </a:rPr>
              <a:t>areas</a:t>
            </a:r>
            <a:r>
              <a:rPr sz="3000" spc="-204" dirty="0">
                <a:latin typeface="Verdana"/>
                <a:cs typeface="Verdana"/>
              </a:rPr>
              <a:t> </a:t>
            </a:r>
            <a:r>
              <a:rPr sz="3000" spc="90" dirty="0">
                <a:latin typeface="Verdana"/>
                <a:cs typeface="Verdana"/>
              </a:rPr>
              <a:t>with</a:t>
            </a:r>
            <a:r>
              <a:rPr sz="3000" spc="-204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slight</a:t>
            </a:r>
            <a:r>
              <a:rPr sz="3000" spc="-210" dirty="0">
                <a:latin typeface="Verdana"/>
                <a:cs typeface="Verdana"/>
              </a:rPr>
              <a:t> </a:t>
            </a:r>
            <a:r>
              <a:rPr sz="3000" spc="-10" dirty="0">
                <a:latin typeface="Verdana"/>
                <a:cs typeface="Verdana"/>
              </a:rPr>
              <a:t>interference</a:t>
            </a:r>
            <a:r>
              <a:rPr sz="3000" spc="-204" dirty="0">
                <a:latin typeface="Verdana"/>
                <a:cs typeface="Verdana"/>
              </a:rPr>
              <a:t> </a:t>
            </a:r>
            <a:r>
              <a:rPr sz="3000" spc="50" dirty="0">
                <a:latin typeface="Verdana"/>
                <a:cs typeface="Verdana"/>
              </a:rPr>
              <a:t>in</a:t>
            </a:r>
            <a:r>
              <a:rPr sz="3000" spc="-204" dirty="0">
                <a:latin typeface="Verdana"/>
                <a:cs typeface="Verdana"/>
              </a:rPr>
              <a:t> </a:t>
            </a:r>
            <a:r>
              <a:rPr sz="3000" spc="-10" dirty="0">
                <a:latin typeface="Verdana"/>
                <a:cs typeface="Verdana"/>
              </a:rPr>
              <a:t>enclosed environments.</a:t>
            </a:r>
            <a:endParaRPr sz="3000">
              <a:latin typeface="Verdana"/>
              <a:cs typeface="Verdana"/>
            </a:endParaRPr>
          </a:p>
          <a:p>
            <a:pPr marL="12700" marR="874394">
              <a:lnSpc>
                <a:spcPts val="4200"/>
              </a:lnSpc>
            </a:pPr>
            <a:r>
              <a:rPr sz="3000" spc="-110" dirty="0">
                <a:latin typeface="Verdana"/>
                <a:cs typeface="Verdana"/>
              </a:rPr>
              <a:t>Overall,</a:t>
            </a:r>
            <a:r>
              <a:rPr sz="3000" spc="-145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the</a:t>
            </a:r>
            <a:r>
              <a:rPr sz="3000" spc="-140" dirty="0">
                <a:latin typeface="Verdana"/>
                <a:cs typeface="Verdana"/>
              </a:rPr>
              <a:t> </a:t>
            </a:r>
            <a:r>
              <a:rPr sz="3000" spc="-10" dirty="0">
                <a:latin typeface="Verdana"/>
                <a:cs typeface="Verdana"/>
              </a:rPr>
              <a:t>project</a:t>
            </a:r>
            <a:r>
              <a:rPr sz="3000" spc="-140" dirty="0">
                <a:latin typeface="Verdana"/>
                <a:cs typeface="Verdana"/>
              </a:rPr>
              <a:t> </a:t>
            </a:r>
            <a:r>
              <a:rPr sz="3000" spc="-30" dirty="0">
                <a:latin typeface="Verdana"/>
                <a:cs typeface="Verdana"/>
              </a:rPr>
              <a:t>successfully</a:t>
            </a:r>
            <a:r>
              <a:rPr sz="3000" spc="-140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demonstrated</a:t>
            </a:r>
            <a:r>
              <a:rPr sz="3000" spc="-140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the</a:t>
            </a:r>
            <a:r>
              <a:rPr sz="3000" spc="-140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principles</a:t>
            </a:r>
            <a:r>
              <a:rPr sz="3000" spc="-140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of</a:t>
            </a:r>
            <a:r>
              <a:rPr sz="3000" spc="-140" dirty="0">
                <a:latin typeface="Verdana"/>
                <a:cs typeface="Verdana"/>
              </a:rPr>
              <a:t> </a:t>
            </a:r>
            <a:r>
              <a:rPr sz="3000" spc="-30" dirty="0">
                <a:latin typeface="Verdana"/>
                <a:cs typeface="Verdana"/>
              </a:rPr>
              <a:t>wireless</a:t>
            </a:r>
            <a:r>
              <a:rPr sz="3000" spc="-140" dirty="0">
                <a:latin typeface="Verdana"/>
                <a:cs typeface="Verdana"/>
              </a:rPr>
              <a:t> </a:t>
            </a:r>
            <a:r>
              <a:rPr sz="3000" spc="-10" dirty="0">
                <a:latin typeface="Verdana"/>
                <a:cs typeface="Verdana"/>
              </a:rPr>
              <a:t>communication, </a:t>
            </a:r>
            <a:r>
              <a:rPr sz="3000" dirty="0">
                <a:latin typeface="Verdana"/>
                <a:cs typeface="Verdana"/>
              </a:rPr>
              <a:t>signal</a:t>
            </a:r>
            <a:r>
              <a:rPr sz="3000" spc="-155" dirty="0">
                <a:latin typeface="Verdana"/>
                <a:cs typeface="Verdana"/>
              </a:rPr>
              <a:t> </a:t>
            </a:r>
            <a:r>
              <a:rPr sz="3000" spc="-50" dirty="0">
                <a:latin typeface="Verdana"/>
                <a:cs typeface="Verdana"/>
              </a:rPr>
              <a:t>processing,</a:t>
            </a:r>
            <a:r>
              <a:rPr sz="3000" spc="-155" dirty="0">
                <a:latin typeface="Verdana"/>
                <a:cs typeface="Verdana"/>
              </a:rPr>
              <a:t> </a:t>
            </a:r>
            <a:r>
              <a:rPr sz="3000" spc="60" dirty="0">
                <a:latin typeface="Verdana"/>
                <a:cs typeface="Verdana"/>
              </a:rPr>
              <a:t>and</a:t>
            </a:r>
            <a:r>
              <a:rPr sz="3000" spc="-155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motor</a:t>
            </a:r>
            <a:r>
              <a:rPr sz="3000" spc="-155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control</a:t>
            </a:r>
            <a:r>
              <a:rPr sz="3000" spc="-155" dirty="0">
                <a:latin typeface="Verdana"/>
                <a:cs typeface="Verdana"/>
              </a:rPr>
              <a:t> </a:t>
            </a:r>
            <a:r>
              <a:rPr sz="3000" spc="50" dirty="0">
                <a:latin typeface="Verdana"/>
                <a:cs typeface="Verdana"/>
              </a:rPr>
              <a:t>in</a:t>
            </a:r>
            <a:r>
              <a:rPr sz="3000" spc="-155" dirty="0">
                <a:latin typeface="Verdana"/>
                <a:cs typeface="Verdana"/>
              </a:rPr>
              <a:t> </a:t>
            </a:r>
            <a:r>
              <a:rPr sz="3000" spc="-60" dirty="0">
                <a:latin typeface="Verdana"/>
                <a:cs typeface="Verdana"/>
              </a:rPr>
              <a:t>a</a:t>
            </a:r>
            <a:r>
              <a:rPr sz="3000" spc="-155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small</a:t>
            </a:r>
            <a:r>
              <a:rPr sz="3000" spc="-155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robotic</a:t>
            </a:r>
            <a:r>
              <a:rPr sz="3000" spc="-155" dirty="0">
                <a:latin typeface="Verdana"/>
                <a:cs typeface="Verdana"/>
              </a:rPr>
              <a:t> </a:t>
            </a:r>
            <a:r>
              <a:rPr sz="3000" spc="-10" dirty="0">
                <a:latin typeface="Verdana"/>
                <a:cs typeface="Verdana"/>
              </a:rPr>
              <a:t>vehicle.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3004" rIns="0" bIns="0" rtlCol="0">
            <a:spAutoFit/>
          </a:bodyPr>
          <a:lstStyle/>
          <a:p>
            <a:pPr marL="659130">
              <a:lnSpc>
                <a:spcPct val="100000"/>
              </a:lnSpc>
              <a:spcBef>
                <a:spcPts val="125"/>
              </a:spcBef>
            </a:pPr>
            <a:r>
              <a:rPr spc="-10" dirty="0"/>
              <a:t>CONCLUSION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2042" y="6526097"/>
            <a:ext cx="3910147" cy="376090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541415" y="9464179"/>
            <a:ext cx="11673205" cy="0"/>
          </a:xfrm>
          <a:custGeom>
            <a:avLst/>
            <a:gdLst/>
            <a:ahLst/>
            <a:cxnLst/>
            <a:rect l="l" t="t" r="r" b="b"/>
            <a:pathLst>
              <a:path w="11673205">
                <a:moveTo>
                  <a:pt x="0" y="0"/>
                </a:moveTo>
                <a:lnTo>
                  <a:pt x="11672840" y="0"/>
                </a:lnTo>
              </a:path>
            </a:pathLst>
          </a:custGeom>
          <a:ln w="9524">
            <a:solidFill>
              <a:srgbClr val="53535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92568" y="2663825"/>
            <a:ext cx="17936845" cy="4826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95"/>
              </a:spcBef>
            </a:pPr>
            <a:r>
              <a:rPr sz="3000" spc="-80" dirty="0">
                <a:latin typeface="Verdana"/>
                <a:cs typeface="Verdana"/>
              </a:rPr>
              <a:t>The</a:t>
            </a:r>
            <a:r>
              <a:rPr sz="3000" spc="-155" dirty="0">
                <a:latin typeface="Verdana"/>
                <a:cs typeface="Verdana"/>
              </a:rPr>
              <a:t> </a:t>
            </a:r>
            <a:r>
              <a:rPr sz="3000" spc="-75" dirty="0">
                <a:latin typeface="Verdana"/>
                <a:cs typeface="Verdana"/>
              </a:rPr>
              <a:t>RF-</a:t>
            </a:r>
            <a:r>
              <a:rPr sz="3000" dirty="0">
                <a:latin typeface="Verdana"/>
                <a:cs typeface="Verdana"/>
              </a:rPr>
              <a:t>controlled</a:t>
            </a:r>
            <a:r>
              <a:rPr sz="3000" spc="-150" dirty="0">
                <a:latin typeface="Verdana"/>
                <a:cs typeface="Verdana"/>
              </a:rPr>
              <a:t> </a:t>
            </a:r>
            <a:r>
              <a:rPr sz="3000" spc="-35" dirty="0">
                <a:latin typeface="Verdana"/>
                <a:cs typeface="Verdana"/>
              </a:rPr>
              <a:t>car</a:t>
            </a:r>
            <a:r>
              <a:rPr sz="3000" spc="-150" dirty="0">
                <a:latin typeface="Verdana"/>
                <a:cs typeface="Verdana"/>
              </a:rPr>
              <a:t> </a:t>
            </a:r>
            <a:r>
              <a:rPr sz="3000" spc="-10" dirty="0">
                <a:latin typeface="Verdana"/>
                <a:cs typeface="Verdana"/>
              </a:rPr>
              <a:t>project</a:t>
            </a:r>
            <a:r>
              <a:rPr sz="3000" spc="-150" dirty="0">
                <a:latin typeface="Verdana"/>
                <a:cs typeface="Verdana"/>
              </a:rPr>
              <a:t> </a:t>
            </a:r>
            <a:r>
              <a:rPr sz="3000" spc="-30" dirty="0">
                <a:latin typeface="Verdana"/>
                <a:cs typeface="Verdana"/>
              </a:rPr>
              <a:t>successfully</a:t>
            </a:r>
            <a:r>
              <a:rPr sz="3000" spc="-155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demonstrated</a:t>
            </a:r>
            <a:r>
              <a:rPr sz="3000" spc="-150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the</a:t>
            </a:r>
            <a:r>
              <a:rPr sz="3000" spc="-150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practical</a:t>
            </a:r>
            <a:r>
              <a:rPr sz="3000" spc="-150" dirty="0">
                <a:latin typeface="Verdana"/>
                <a:cs typeface="Verdana"/>
              </a:rPr>
              <a:t> </a:t>
            </a:r>
            <a:r>
              <a:rPr sz="3000" spc="-45" dirty="0">
                <a:latin typeface="Verdana"/>
                <a:cs typeface="Verdana"/>
              </a:rPr>
              <a:t>use</a:t>
            </a:r>
            <a:r>
              <a:rPr sz="3000" spc="-150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of</a:t>
            </a:r>
            <a:r>
              <a:rPr sz="3000" spc="-155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radio</a:t>
            </a:r>
            <a:r>
              <a:rPr sz="3000" spc="-150" dirty="0">
                <a:latin typeface="Verdana"/>
                <a:cs typeface="Verdana"/>
              </a:rPr>
              <a:t> </a:t>
            </a:r>
            <a:r>
              <a:rPr sz="3000" spc="-10" dirty="0">
                <a:latin typeface="Verdana"/>
                <a:cs typeface="Verdana"/>
              </a:rPr>
              <a:t>frequency </a:t>
            </a:r>
            <a:r>
              <a:rPr sz="3000" dirty="0">
                <a:latin typeface="Verdana"/>
                <a:cs typeface="Verdana"/>
              </a:rPr>
              <a:t>technology</a:t>
            </a:r>
            <a:r>
              <a:rPr sz="3000" spc="-180" dirty="0">
                <a:latin typeface="Verdana"/>
                <a:cs typeface="Verdana"/>
              </a:rPr>
              <a:t> </a:t>
            </a:r>
            <a:r>
              <a:rPr sz="3000" spc="-30" dirty="0">
                <a:latin typeface="Verdana"/>
                <a:cs typeface="Verdana"/>
              </a:rPr>
              <a:t>for</a:t>
            </a:r>
            <a:r>
              <a:rPr sz="3000" spc="-175" dirty="0">
                <a:latin typeface="Verdana"/>
                <a:cs typeface="Verdana"/>
              </a:rPr>
              <a:t> </a:t>
            </a:r>
            <a:r>
              <a:rPr sz="3000" spc="-30" dirty="0">
                <a:latin typeface="Verdana"/>
                <a:cs typeface="Verdana"/>
              </a:rPr>
              <a:t>wireless</a:t>
            </a:r>
            <a:r>
              <a:rPr sz="3000" spc="-175" dirty="0">
                <a:latin typeface="Verdana"/>
                <a:cs typeface="Verdana"/>
              </a:rPr>
              <a:t> </a:t>
            </a:r>
            <a:r>
              <a:rPr sz="3000" spc="-10" dirty="0">
                <a:latin typeface="Verdana"/>
                <a:cs typeface="Verdana"/>
              </a:rPr>
              <a:t>vehicle</a:t>
            </a:r>
            <a:r>
              <a:rPr sz="3000" spc="-175" dirty="0">
                <a:latin typeface="Verdana"/>
                <a:cs typeface="Verdana"/>
              </a:rPr>
              <a:t> </a:t>
            </a:r>
            <a:r>
              <a:rPr sz="3000" spc="-35" dirty="0">
                <a:latin typeface="Verdana"/>
                <a:cs typeface="Verdana"/>
              </a:rPr>
              <a:t>control.</a:t>
            </a:r>
            <a:r>
              <a:rPr sz="3000" spc="-175" dirty="0">
                <a:latin typeface="Verdana"/>
                <a:cs typeface="Verdana"/>
              </a:rPr>
              <a:t> </a:t>
            </a:r>
            <a:r>
              <a:rPr sz="3000" spc="-80" dirty="0">
                <a:latin typeface="Verdana"/>
                <a:cs typeface="Verdana"/>
              </a:rPr>
              <a:t>The</a:t>
            </a:r>
            <a:r>
              <a:rPr sz="3000" spc="-175" dirty="0">
                <a:latin typeface="Verdana"/>
                <a:cs typeface="Verdana"/>
              </a:rPr>
              <a:t> </a:t>
            </a:r>
            <a:r>
              <a:rPr sz="3000" spc="-65" dirty="0">
                <a:latin typeface="Verdana"/>
                <a:cs typeface="Verdana"/>
              </a:rPr>
              <a:t>system</a:t>
            </a:r>
            <a:r>
              <a:rPr sz="3000" spc="-175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efficiently</a:t>
            </a:r>
            <a:r>
              <a:rPr sz="3000" spc="-175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transmitted</a:t>
            </a:r>
            <a:r>
              <a:rPr sz="3000" spc="-175" dirty="0">
                <a:latin typeface="Verdana"/>
                <a:cs typeface="Verdana"/>
              </a:rPr>
              <a:t> </a:t>
            </a:r>
            <a:r>
              <a:rPr sz="3000" spc="65" dirty="0">
                <a:latin typeface="Verdana"/>
                <a:cs typeface="Verdana"/>
              </a:rPr>
              <a:t>commands</a:t>
            </a:r>
            <a:r>
              <a:rPr sz="3000" spc="-175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from</a:t>
            </a:r>
            <a:r>
              <a:rPr sz="3000" spc="-180" dirty="0">
                <a:latin typeface="Verdana"/>
                <a:cs typeface="Verdana"/>
              </a:rPr>
              <a:t> </a:t>
            </a:r>
            <a:r>
              <a:rPr sz="3000" spc="-25" dirty="0">
                <a:latin typeface="Verdana"/>
                <a:cs typeface="Verdana"/>
              </a:rPr>
              <a:t>the </a:t>
            </a:r>
            <a:r>
              <a:rPr sz="3000" spc="-20" dirty="0">
                <a:latin typeface="Verdana"/>
                <a:cs typeface="Verdana"/>
              </a:rPr>
              <a:t>transmitter</a:t>
            </a:r>
            <a:r>
              <a:rPr sz="3000" spc="-140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to</a:t>
            </a:r>
            <a:r>
              <a:rPr sz="3000" spc="-135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the</a:t>
            </a:r>
            <a:r>
              <a:rPr sz="3000" spc="-140" dirty="0">
                <a:latin typeface="Verdana"/>
                <a:cs typeface="Verdana"/>
              </a:rPr>
              <a:t> </a:t>
            </a:r>
            <a:r>
              <a:rPr sz="3000" spc="-110" dirty="0">
                <a:latin typeface="Verdana"/>
                <a:cs typeface="Verdana"/>
              </a:rPr>
              <a:t>receiver,</a:t>
            </a:r>
            <a:r>
              <a:rPr sz="3000" spc="-135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enabling</a:t>
            </a:r>
            <a:r>
              <a:rPr sz="3000" spc="-135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smooth</a:t>
            </a:r>
            <a:r>
              <a:rPr sz="3000" spc="-140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movement</a:t>
            </a:r>
            <a:r>
              <a:rPr sz="3000" spc="-135" dirty="0">
                <a:latin typeface="Verdana"/>
                <a:cs typeface="Verdana"/>
              </a:rPr>
              <a:t> </a:t>
            </a:r>
            <a:r>
              <a:rPr sz="3000" spc="50" dirty="0">
                <a:latin typeface="Verdana"/>
                <a:cs typeface="Verdana"/>
              </a:rPr>
              <a:t>in</a:t>
            </a:r>
            <a:r>
              <a:rPr sz="3000" spc="-135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all</a:t>
            </a:r>
            <a:r>
              <a:rPr sz="3000" spc="-140" dirty="0">
                <a:latin typeface="Verdana"/>
                <a:cs typeface="Verdana"/>
              </a:rPr>
              <a:t> </a:t>
            </a:r>
            <a:r>
              <a:rPr sz="3000" spc="-30" dirty="0">
                <a:latin typeface="Verdana"/>
                <a:cs typeface="Verdana"/>
              </a:rPr>
              <a:t>directions.</a:t>
            </a:r>
            <a:r>
              <a:rPr sz="3000" spc="-135" dirty="0">
                <a:latin typeface="Verdana"/>
                <a:cs typeface="Verdana"/>
              </a:rPr>
              <a:t> </a:t>
            </a:r>
            <a:r>
              <a:rPr sz="3000" spc="-180" dirty="0">
                <a:latin typeface="Verdana"/>
                <a:cs typeface="Verdana"/>
              </a:rPr>
              <a:t>It</a:t>
            </a:r>
            <a:r>
              <a:rPr sz="3000" spc="-135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provided</a:t>
            </a:r>
            <a:r>
              <a:rPr sz="3000" spc="-140" dirty="0">
                <a:latin typeface="Verdana"/>
                <a:cs typeface="Verdana"/>
              </a:rPr>
              <a:t> </a:t>
            </a:r>
            <a:r>
              <a:rPr sz="3000" spc="-30" dirty="0">
                <a:latin typeface="Verdana"/>
                <a:cs typeface="Verdana"/>
              </a:rPr>
              <a:t>hands-</a:t>
            </a:r>
            <a:r>
              <a:rPr sz="3000" spc="30" dirty="0">
                <a:latin typeface="Verdana"/>
                <a:cs typeface="Verdana"/>
              </a:rPr>
              <a:t>on </a:t>
            </a:r>
            <a:r>
              <a:rPr sz="3000" spc="-20" dirty="0">
                <a:latin typeface="Verdana"/>
                <a:cs typeface="Verdana"/>
              </a:rPr>
              <a:t>experience</a:t>
            </a:r>
            <a:r>
              <a:rPr sz="3000" spc="-140" dirty="0">
                <a:latin typeface="Verdana"/>
                <a:cs typeface="Verdana"/>
              </a:rPr>
              <a:t> </a:t>
            </a:r>
            <a:r>
              <a:rPr sz="3000" spc="90" dirty="0">
                <a:latin typeface="Verdana"/>
                <a:cs typeface="Verdana"/>
              </a:rPr>
              <a:t>with</a:t>
            </a:r>
            <a:r>
              <a:rPr sz="3000" spc="-140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concepts</a:t>
            </a:r>
            <a:r>
              <a:rPr sz="3000" spc="-140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such</a:t>
            </a:r>
            <a:r>
              <a:rPr sz="3000" spc="-135" dirty="0">
                <a:latin typeface="Verdana"/>
                <a:cs typeface="Verdana"/>
              </a:rPr>
              <a:t> </a:t>
            </a:r>
            <a:r>
              <a:rPr sz="3000" spc="-114" dirty="0">
                <a:latin typeface="Verdana"/>
                <a:cs typeface="Verdana"/>
              </a:rPr>
              <a:t>as</a:t>
            </a:r>
            <a:r>
              <a:rPr sz="3000" spc="-140" dirty="0">
                <a:latin typeface="Verdana"/>
                <a:cs typeface="Verdana"/>
              </a:rPr>
              <a:t> </a:t>
            </a:r>
            <a:r>
              <a:rPr sz="3000" spc="-30" dirty="0">
                <a:latin typeface="Verdana"/>
                <a:cs typeface="Verdana"/>
              </a:rPr>
              <a:t>wireless</a:t>
            </a:r>
            <a:r>
              <a:rPr sz="3000" spc="-140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communication,</a:t>
            </a:r>
            <a:r>
              <a:rPr sz="3000" spc="-140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motor</a:t>
            </a:r>
            <a:r>
              <a:rPr sz="3000" spc="-135" dirty="0">
                <a:latin typeface="Verdana"/>
                <a:cs typeface="Verdana"/>
              </a:rPr>
              <a:t> </a:t>
            </a:r>
            <a:r>
              <a:rPr sz="3000" spc="-35" dirty="0">
                <a:latin typeface="Verdana"/>
                <a:cs typeface="Verdana"/>
              </a:rPr>
              <a:t>control,</a:t>
            </a:r>
            <a:r>
              <a:rPr sz="3000" spc="-140" dirty="0">
                <a:latin typeface="Verdana"/>
                <a:cs typeface="Verdana"/>
              </a:rPr>
              <a:t> </a:t>
            </a:r>
            <a:r>
              <a:rPr sz="3000" spc="60" dirty="0">
                <a:latin typeface="Verdana"/>
                <a:cs typeface="Verdana"/>
              </a:rPr>
              <a:t>and</a:t>
            </a:r>
            <a:r>
              <a:rPr sz="3000" spc="-140" dirty="0">
                <a:latin typeface="Verdana"/>
                <a:cs typeface="Verdana"/>
              </a:rPr>
              <a:t> </a:t>
            </a:r>
            <a:r>
              <a:rPr sz="3000" spc="80" dirty="0">
                <a:latin typeface="Verdana"/>
                <a:cs typeface="Verdana"/>
              </a:rPr>
              <a:t>embedded </a:t>
            </a:r>
            <a:r>
              <a:rPr sz="3000" spc="-10" dirty="0">
                <a:latin typeface="Verdana"/>
                <a:cs typeface="Verdana"/>
              </a:rPr>
              <a:t>electronics.</a:t>
            </a:r>
            <a:endParaRPr sz="3000">
              <a:latin typeface="Verdana"/>
              <a:cs typeface="Verdana"/>
            </a:endParaRPr>
          </a:p>
          <a:p>
            <a:pPr marL="12700" marR="113030">
              <a:lnSpc>
                <a:spcPts val="4200"/>
              </a:lnSpc>
              <a:spcBef>
                <a:spcPts val="100"/>
              </a:spcBef>
            </a:pPr>
            <a:r>
              <a:rPr sz="3000" spc="70" dirty="0">
                <a:latin typeface="Verdana"/>
                <a:cs typeface="Verdana"/>
              </a:rPr>
              <a:t>Although</a:t>
            </a:r>
            <a:r>
              <a:rPr sz="3000" spc="-195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the</a:t>
            </a:r>
            <a:r>
              <a:rPr sz="3000" spc="-195" dirty="0">
                <a:latin typeface="Verdana"/>
                <a:cs typeface="Verdana"/>
              </a:rPr>
              <a:t> </a:t>
            </a:r>
            <a:r>
              <a:rPr sz="3000" spc="-35" dirty="0">
                <a:latin typeface="Verdana"/>
                <a:cs typeface="Verdana"/>
              </a:rPr>
              <a:t>range</a:t>
            </a:r>
            <a:r>
              <a:rPr sz="3000" spc="-195" dirty="0">
                <a:latin typeface="Verdana"/>
                <a:cs typeface="Verdana"/>
              </a:rPr>
              <a:t> </a:t>
            </a:r>
            <a:r>
              <a:rPr sz="3000" spc="60" dirty="0">
                <a:latin typeface="Verdana"/>
                <a:cs typeface="Verdana"/>
              </a:rPr>
              <a:t>and</a:t>
            </a:r>
            <a:r>
              <a:rPr sz="3000" spc="-190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signal</a:t>
            </a:r>
            <a:r>
              <a:rPr sz="3000" spc="-195" dirty="0">
                <a:latin typeface="Verdana"/>
                <a:cs typeface="Verdana"/>
              </a:rPr>
              <a:t> </a:t>
            </a:r>
            <a:r>
              <a:rPr sz="3000" spc="-10" dirty="0">
                <a:latin typeface="Verdana"/>
                <a:cs typeface="Verdana"/>
              </a:rPr>
              <a:t>interference</a:t>
            </a:r>
            <a:r>
              <a:rPr sz="3000" spc="-195" dirty="0">
                <a:latin typeface="Verdana"/>
                <a:cs typeface="Verdana"/>
              </a:rPr>
              <a:t> </a:t>
            </a:r>
            <a:r>
              <a:rPr sz="3000" spc="-20" dirty="0">
                <a:latin typeface="Verdana"/>
                <a:cs typeface="Verdana"/>
              </a:rPr>
              <a:t>present</a:t>
            </a:r>
            <a:r>
              <a:rPr sz="3000" spc="-195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minor</a:t>
            </a:r>
            <a:r>
              <a:rPr sz="3000" spc="-190" dirty="0">
                <a:latin typeface="Verdana"/>
                <a:cs typeface="Verdana"/>
              </a:rPr>
              <a:t> </a:t>
            </a:r>
            <a:r>
              <a:rPr sz="3000" spc="-20" dirty="0">
                <a:latin typeface="Verdana"/>
                <a:cs typeface="Verdana"/>
              </a:rPr>
              <a:t>limitations,</a:t>
            </a:r>
            <a:r>
              <a:rPr sz="3000" spc="-195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the</a:t>
            </a:r>
            <a:r>
              <a:rPr sz="3000" spc="-195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project</a:t>
            </a:r>
            <a:r>
              <a:rPr sz="3000" spc="-190" dirty="0">
                <a:latin typeface="Verdana"/>
                <a:cs typeface="Verdana"/>
              </a:rPr>
              <a:t> </a:t>
            </a:r>
            <a:r>
              <a:rPr sz="3000" spc="-10" dirty="0">
                <a:latin typeface="Verdana"/>
                <a:cs typeface="Verdana"/>
              </a:rPr>
              <a:t>effectively achieved</a:t>
            </a:r>
            <a:r>
              <a:rPr sz="3000" spc="-195" dirty="0">
                <a:latin typeface="Verdana"/>
                <a:cs typeface="Verdana"/>
              </a:rPr>
              <a:t> </a:t>
            </a:r>
            <a:r>
              <a:rPr sz="3000" spc="-40" dirty="0">
                <a:latin typeface="Verdana"/>
                <a:cs typeface="Verdana"/>
              </a:rPr>
              <a:t>its</a:t>
            </a:r>
            <a:r>
              <a:rPr sz="3000" spc="-195" dirty="0">
                <a:latin typeface="Verdana"/>
                <a:cs typeface="Verdana"/>
              </a:rPr>
              <a:t> </a:t>
            </a:r>
            <a:r>
              <a:rPr sz="3000" spc="-40" dirty="0">
                <a:latin typeface="Verdana"/>
                <a:cs typeface="Verdana"/>
              </a:rPr>
              <a:t>objectives</a:t>
            </a:r>
            <a:r>
              <a:rPr sz="3000" spc="-195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of</a:t>
            </a:r>
            <a:r>
              <a:rPr sz="3000" spc="-190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showcasing</a:t>
            </a:r>
            <a:r>
              <a:rPr sz="3000" spc="-195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remote</a:t>
            </a:r>
            <a:r>
              <a:rPr sz="3000" spc="-195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operation</a:t>
            </a:r>
            <a:r>
              <a:rPr sz="3000" spc="-195" dirty="0">
                <a:latin typeface="Verdana"/>
                <a:cs typeface="Verdana"/>
              </a:rPr>
              <a:t> </a:t>
            </a:r>
            <a:r>
              <a:rPr sz="3000" spc="60" dirty="0">
                <a:latin typeface="Verdana"/>
                <a:cs typeface="Verdana"/>
              </a:rPr>
              <a:t>and</a:t>
            </a:r>
            <a:r>
              <a:rPr sz="3000" spc="-190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control</a:t>
            </a:r>
            <a:r>
              <a:rPr sz="3000" spc="-195" dirty="0">
                <a:latin typeface="Verdana"/>
                <a:cs typeface="Verdana"/>
              </a:rPr>
              <a:t> </a:t>
            </a:r>
            <a:r>
              <a:rPr sz="3000" spc="-65" dirty="0">
                <a:latin typeface="Verdana"/>
                <a:cs typeface="Verdana"/>
              </a:rPr>
              <a:t>system</a:t>
            </a:r>
            <a:r>
              <a:rPr sz="3000" spc="-195" dirty="0">
                <a:latin typeface="Verdana"/>
                <a:cs typeface="Verdana"/>
              </a:rPr>
              <a:t> </a:t>
            </a:r>
            <a:r>
              <a:rPr sz="3000" spc="-50" dirty="0">
                <a:latin typeface="Verdana"/>
                <a:cs typeface="Verdana"/>
              </a:rPr>
              <a:t>design.</a:t>
            </a:r>
            <a:r>
              <a:rPr sz="3000" spc="-190" dirty="0">
                <a:latin typeface="Verdana"/>
                <a:cs typeface="Verdana"/>
              </a:rPr>
              <a:t> </a:t>
            </a:r>
            <a:r>
              <a:rPr sz="3000" spc="-85" dirty="0">
                <a:latin typeface="Verdana"/>
                <a:cs typeface="Verdana"/>
              </a:rPr>
              <a:t>This</a:t>
            </a:r>
            <a:r>
              <a:rPr sz="3000" spc="-195" dirty="0">
                <a:latin typeface="Verdana"/>
                <a:cs typeface="Verdana"/>
              </a:rPr>
              <a:t> </a:t>
            </a:r>
            <a:r>
              <a:rPr sz="3000" spc="-20" dirty="0">
                <a:latin typeface="Verdana"/>
                <a:cs typeface="Verdana"/>
              </a:rPr>
              <a:t>work </a:t>
            </a:r>
            <a:r>
              <a:rPr sz="3000" spc="-120" dirty="0">
                <a:latin typeface="Verdana"/>
                <a:cs typeface="Verdana"/>
              </a:rPr>
              <a:t>serves</a:t>
            </a:r>
            <a:r>
              <a:rPr sz="3000" spc="-125" dirty="0">
                <a:latin typeface="Verdana"/>
                <a:cs typeface="Verdana"/>
              </a:rPr>
              <a:t> </a:t>
            </a:r>
            <a:r>
              <a:rPr sz="3000" spc="-114" dirty="0">
                <a:latin typeface="Verdana"/>
                <a:cs typeface="Verdana"/>
              </a:rPr>
              <a:t>as</a:t>
            </a:r>
            <a:r>
              <a:rPr sz="3000" spc="-125" dirty="0">
                <a:latin typeface="Verdana"/>
                <a:cs typeface="Verdana"/>
              </a:rPr>
              <a:t> </a:t>
            </a:r>
            <a:r>
              <a:rPr sz="3000" spc="-60" dirty="0">
                <a:latin typeface="Verdana"/>
                <a:cs typeface="Verdana"/>
              </a:rPr>
              <a:t>a</a:t>
            </a:r>
            <a:r>
              <a:rPr sz="3000" spc="-125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foundation</a:t>
            </a:r>
            <a:r>
              <a:rPr sz="3000" spc="-120" dirty="0">
                <a:latin typeface="Verdana"/>
                <a:cs typeface="Verdana"/>
              </a:rPr>
              <a:t> </a:t>
            </a:r>
            <a:r>
              <a:rPr sz="3000" spc="-30" dirty="0">
                <a:latin typeface="Verdana"/>
                <a:cs typeface="Verdana"/>
              </a:rPr>
              <a:t>for</a:t>
            </a:r>
            <a:r>
              <a:rPr sz="3000" spc="-125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developing</a:t>
            </a:r>
            <a:r>
              <a:rPr sz="3000" spc="-125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more</a:t>
            </a:r>
            <a:r>
              <a:rPr sz="3000" spc="-125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advanced</a:t>
            </a:r>
            <a:r>
              <a:rPr sz="3000" spc="-120" dirty="0">
                <a:latin typeface="Verdana"/>
                <a:cs typeface="Verdana"/>
              </a:rPr>
              <a:t> </a:t>
            </a:r>
            <a:r>
              <a:rPr sz="3000" spc="-30" dirty="0">
                <a:latin typeface="Verdana"/>
                <a:cs typeface="Verdana"/>
              </a:rPr>
              <a:t>wireless</a:t>
            </a:r>
            <a:r>
              <a:rPr sz="3000" spc="-125" dirty="0">
                <a:latin typeface="Verdana"/>
                <a:cs typeface="Verdana"/>
              </a:rPr>
              <a:t> </a:t>
            </a:r>
            <a:r>
              <a:rPr sz="3000" spc="-40" dirty="0">
                <a:latin typeface="Verdana"/>
                <a:cs typeface="Verdana"/>
              </a:rPr>
              <a:t>or</a:t>
            </a:r>
            <a:r>
              <a:rPr sz="3000" spc="-125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autonomous</a:t>
            </a:r>
            <a:r>
              <a:rPr sz="3000" spc="-125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robotic</a:t>
            </a:r>
            <a:r>
              <a:rPr sz="3000" spc="-120" dirty="0">
                <a:latin typeface="Verdana"/>
                <a:cs typeface="Verdana"/>
              </a:rPr>
              <a:t> </a:t>
            </a:r>
            <a:r>
              <a:rPr sz="3000" spc="-10" dirty="0">
                <a:latin typeface="Verdana"/>
                <a:cs typeface="Verdana"/>
              </a:rPr>
              <a:t>systems </a:t>
            </a:r>
            <a:r>
              <a:rPr sz="3000" dirty="0">
                <a:latin typeface="Verdana"/>
                <a:cs typeface="Verdana"/>
              </a:rPr>
              <a:t>using</a:t>
            </a:r>
            <a:r>
              <a:rPr sz="3000" spc="-185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technologies</a:t>
            </a:r>
            <a:r>
              <a:rPr sz="3000" spc="-180" dirty="0">
                <a:latin typeface="Verdana"/>
                <a:cs typeface="Verdana"/>
              </a:rPr>
              <a:t> </a:t>
            </a:r>
            <a:r>
              <a:rPr sz="3000" spc="-10" dirty="0">
                <a:latin typeface="Verdana"/>
                <a:cs typeface="Verdana"/>
              </a:rPr>
              <a:t>like</a:t>
            </a:r>
            <a:r>
              <a:rPr sz="3000" spc="-185" dirty="0">
                <a:latin typeface="Verdana"/>
                <a:cs typeface="Verdana"/>
              </a:rPr>
              <a:t> </a:t>
            </a:r>
            <a:r>
              <a:rPr sz="3000" spc="-20" dirty="0">
                <a:latin typeface="Verdana"/>
                <a:cs typeface="Verdana"/>
              </a:rPr>
              <a:t>Bluetooth,</a:t>
            </a:r>
            <a:r>
              <a:rPr sz="3000" spc="-180" dirty="0">
                <a:latin typeface="Verdana"/>
                <a:cs typeface="Verdana"/>
              </a:rPr>
              <a:t> </a:t>
            </a:r>
            <a:r>
              <a:rPr sz="3000" spc="-10" dirty="0">
                <a:latin typeface="Verdana"/>
                <a:cs typeface="Verdana"/>
              </a:rPr>
              <a:t>Wi-</a:t>
            </a:r>
            <a:r>
              <a:rPr sz="3000" spc="-150" dirty="0">
                <a:latin typeface="Verdana"/>
                <a:cs typeface="Verdana"/>
              </a:rPr>
              <a:t>Fi,</a:t>
            </a:r>
            <a:r>
              <a:rPr sz="3000" spc="-185" dirty="0">
                <a:latin typeface="Verdana"/>
                <a:cs typeface="Verdana"/>
              </a:rPr>
              <a:t> </a:t>
            </a:r>
            <a:r>
              <a:rPr sz="3000" spc="-40" dirty="0">
                <a:latin typeface="Verdana"/>
                <a:cs typeface="Verdana"/>
              </a:rPr>
              <a:t>or</a:t>
            </a:r>
            <a:r>
              <a:rPr sz="3000" spc="-180" dirty="0">
                <a:latin typeface="Verdana"/>
                <a:cs typeface="Verdana"/>
              </a:rPr>
              <a:t> </a:t>
            </a:r>
            <a:r>
              <a:rPr sz="3000" spc="-225" dirty="0">
                <a:latin typeface="Verdana"/>
                <a:cs typeface="Verdana"/>
              </a:rPr>
              <a:t>IoT</a:t>
            </a:r>
            <a:r>
              <a:rPr sz="3000" spc="-185" dirty="0">
                <a:latin typeface="Verdana"/>
                <a:cs typeface="Verdana"/>
              </a:rPr>
              <a:t> </a:t>
            </a:r>
            <a:r>
              <a:rPr sz="3000" spc="-10" dirty="0">
                <a:latin typeface="Verdana"/>
                <a:cs typeface="Verdana"/>
              </a:rPr>
              <a:t>integration.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67675" y="3969712"/>
            <a:ext cx="9104630" cy="1779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0" spc="365" dirty="0"/>
              <a:t>THANK</a:t>
            </a:r>
            <a:r>
              <a:rPr sz="11500" spc="-254" dirty="0"/>
              <a:t> </a:t>
            </a:r>
            <a:r>
              <a:rPr sz="11500" spc="165" dirty="0"/>
              <a:t>YOU</a:t>
            </a:r>
            <a:endParaRPr sz="115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2042" y="6526097"/>
            <a:ext cx="3910147" cy="376090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541415" y="9464179"/>
            <a:ext cx="11673205" cy="0"/>
          </a:xfrm>
          <a:custGeom>
            <a:avLst/>
            <a:gdLst/>
            <a:ahLst/>
            <a:cxnLst/>
            <a:rect l="l" t="t" r="r" b="b"/>
            <a:pathLst>
              <a:path w="11673205">
                <a:moveTo>
                  <a:pt x="0" y="0"/>
                </a:moveTo>
                <a:lnTo>
                  <a:pt x="11672840" y="0"/>
                </a:lnTo>
              </a:path>
            </a:pathLst>
          </a:custGeom>
          <a:ln w="9524">
            <a:solidFill>
              <a:srgbClr val="53535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35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769</Words>
  <Application>Microsoft Office PowerPoint</Application>
  <PresentationFormat>Custom</PresentationFormat>
  <Paragraphs>74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 Black</vt:lpstr>
      <vt:lpstr>Lucida Sans Unicode</vt:lpstr>
      <vt:lpstr>Tahoma</vt:lpstr>
      <vt:lpstr>Verdana</vt:lpstr>
      <vt:lpstr>Office Theme</vt:lpstr>
      <vt:lpstr>RF CONTROL CAR</vt:lpstr>
      <vt:lpstr>PowerPoint Presentation</vt:lpstr>
      <vt:lpstr>BACKGROUND An RF-controlled car uses radio frequency signals to wirelessly control vehicle movement via a transmitter and receiver, demonstrating basic wireless communication, motor control, and embedded system operation principles.</vt:lpstr>
      <vt:lpstr>PROJECT GOALS</vt:lpstr>
      <vt:lpstr>PROCESS</vt:lpstr>
      <vt:lpstr>SUBJECT</vt:lpstr>
      <vt:lpstr>SUBJECT 2</vt:lpstr>
      <vt:lpstr>SUBJECT 3</vt:lpstr>
      <vt:lpstr>Subject 4</vt:lpstr>
      <vt:lpstr>ANALYSIS</vt:lpstr>
      <vt:lpstr>RESULT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rF CONTROL CAR</dc:title>
  <dc:creator>Siddharth Singh</dc:creator>
  <cp:keywords>DAG3pAqlmXk,BAG3pCrhzvY,0</cp:keywords>
  <cp:lastModifiedBy>siddharth singh</cp:lastModifiedBy>
  <cp:revision>1</cp:revision>
  <dcterms:created xsi:type="dcterms:W3CDTF">2025-11-03T13:32:09Z</dcterms:created>
  <dcterms:modified xsi:type="dcterms:W3CDTF">2025-11-03T13:35:46Z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2025-11-03T00:00:00Z</vt:filetime>
  </property>
  <property fmtid="{D5CDD505-2E9C-101B-9397-08002B2CF9AE}" pid="3" name="Creator">
    <vt:lpwstr>Canva</vt:lpwstr>
  </property>
  <property fmtid="{D5CDD505-2E9C-101B-9397-08002B2CF9AE}" pid="4" name="LastSaved">
    <vt:filetime>2025-11-03T00:00:00Z</vt:filetime>
  </property>
  <property fmtid="{D5CDD505-2E9C-101B-9397-08002B2CF9AE}" pid="5" name="Producer">
    <vt:lpwstr>Canva</vt:lpwstr>
  </property>
</Properties>
</file>